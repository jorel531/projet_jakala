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2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3185759-55D7-B7A9-0DF5-968BAE75B70C}">
          <p14:sldIdLst>
            <p14:sldId id="256"/>
            <p14:sldId id="257"/>
            <p14:sldId id="258"/>
            <p14:sldId id="259"/>
            <p14:sldId id="260"/>
          </p14:sldIdLst>
        </p14:section>
        <p14:section name="Analyse exploratoire" id="{B8C25868-DC87-7840-6791-0D7C178D4FA5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Préparation et modélisation" id="{945CEC9E-ACDC-0945-E669-0623F235BEE8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Résultats" id="{A37AC1DF-F11F-8AF9-A159-155F3AA18A60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Conclusion" id="{65C361E2-B1AF-313F-85B4-60FC4470A59F}">
          <p14:sldIdLst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12343B"/>
                </a:solidFill>
                <a:latin typeface="+mn-lt"/>
              </a:rPr>
              <a:t>Valeurs manquantes (% des clients)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manquants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&quot; 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428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Work_Experience</c:v>
                </c:pt>
                <c:pt idx="1">
                  <c:v>Family_Size</c:v>
                </c:pt>
                <c:pt idx="2">
                  <c:v>Ever_Married</c:v>
                </c:pt>
                <c:pt idx="3">
                  <c:v>Profession</c:v>
                </c:pt>
                <c:pt idx="4">
                  <c:v>Graduated</c:v>
                </c:pt>
                <c:pt idx="5">
                  <c:v>Var_1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10.3</c:v>
                </c:pt>
                <c:pt idx="1">
                  <c:v>4.2</c:v>
                </c:pt>
                <c:pt idx="2">
                  <c:v>1.7</c:v>
                </c:pt>
                <c:pt idx="3">
                  <c:v>1.5</c:v>
                </c:pt>
                <c:pt idx="4">
                  <c:v>1</c:v>
                </c:pt>
                <c:pt idx="5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54-4F0B-8D51-85931836B6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12343B"/>
                </a:solidFill>
                <a:latin typeface="+mn-lt"/>
              </a:rPr>
              <a:t>Nombre de clients par segment (train)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9D8-407F-A539-A4C87AF9A6A5}"/>
              </c:ext>
            </c:extLst>
          </c:dPt>
          <c:dPt>
            <c:idx val="1"/>
            <c:invertIfNegative val="0"/>
            <c:bubble3D val="0"/>
            <c:spPr>
              <a:solidFill>
                <a:srgbClr val="FF9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D8-407F-A539-A4C87AF9A6A5}"/>
              </c:ext>
            </c:extLst>
          </c:dPt>
          <c:dPt>
            <c:idx val="2"/>
            <c:invertIfNegative val="0"/>
            <c:bubble3D val="0"/>
            <c:spPr>
              <a:solidFill>
                <a:srgbClr val="4CAF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9D8-407F-A539-A4C87AF9A6A5}"/>
              </c:ext>
            </c:extLst>
          </c:dPt>
          <c:dPt>
            <c:idx val="3"/>
            <c:invertIfNegative val="0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9D8-407F-A539-A4C87AF9A6A5}"/>
              </c:ext>
            </c:extLst>
          </c:dPt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428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1578</c:v>
                </c:pt>
                <c:pt idx="1">
                  <c:v>1486</c:v>
                </c:pt>
                <c:pt idx="2">
                  <c:v>1576</c:v>
                </c:pt>
                <c:pt idx="3">
                  <c:v>1814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9D8-407F-A539-A4C87AF9A6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0"/>
          <c:min val="0"/>
        </c:scaling>
        <c:delete val="0"/>
        <c:axPos val="l"/>
        <c:majorGridlines>
          <c:spPr>
            <a:ln w="9525" cap="flat">
              <a:solidFill>
                <a:srgbClr val="DCE5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12343B"/>
                </a:solidFill>
                <a:latin typeface="+mn-lt"/>
              </a:rPr>
              <a:t>Profession : effectifs par modalité (train)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B2-411F-B55B-F14A977D2DE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DB2-411F-B55B-F14A977D2DE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DB2-411F-B55B-F14A977D2DE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DB2-411F-B55B-F14A977D2DE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DB2-411F-B55B-F14A977D2DE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7DB2-411F-B55B-F14A977D2DE6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DB2-411F-B55B-F14A977D2DE6}"/>
              </c:ext>
            </c:extLst>
          </c:dPt>
          <c:dPt>
            <c:idx val="7"/>
            <c:invertIfNegative val="0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DB2-411F-B55B-F14A977D2DE6}"/>
              </c:ext>
            </c:extLst>
          </c:dPt>
          <c:dPt>
            <c:idx val="8"/>
            <c:invertIfNegative val="0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DB2-411F-B55B-F14A977D2DE6}"/>
              </c:ext>
            </c:extLst>
          </c:dPt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428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Artist</c:v>
                </c:pt>
                <c:pt idx="1">
                  <c:v>Healthcare</c:v>
                </c:pt>
                <c:pt idx="2">
                  <c:v>Entertainment</c:v>
                </c:pt>
                <c:pt idx="3">
                  <c:v>Doctor</c:v>
                </c:pt>
                <c:pt idx="4">
                  <c:v>Engineer</c:v>
                </c:pt>
                <c:pt idx="5">
                  <c:v>Lawyer</c:v>
                </c:pt>
                <c:pt idx="6">
                  <c:v>Executive</c:v>
                </c:pt>
                <c:pt idx="7">
                  <c:v>Marketing</c:v>
                </c:pt>
                <c:pt idx="8">
                  <c:v>Homemaker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2005</c:v>
                </c:pt>
                <c:pt idx="1">
                  <c:v>1064</c:v>
                </c:pt>
                <c:pt idx="2">
                  <c:v>745</c:v>
                </c:pt>
                <c:pt idx="3">
                  <c:v>567</c:v>
                </c:pt>
                <c:pt idx="4">
                  <c:v>562</c:v>
                </c:pt>
                <c:pt idx="5">
                  <c:v>491</c:v>
                </c:pt>
                <c:pt idx="6">
                  <c:v>489</c:v>
                </c:pt>
                <c:pt idx="7">
                  <c:v>230</c:v>
                </c:pt>
                <c:pt idx="8">
                  <c:v>195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DB2-411F-B55B-F14A977D2D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12343B"/>
                </a:solidFill>
                <a:latin typeface="+mn-lt"/>
              </a:rPr>
              <a:t>Var_1 : effectifs par modalité (train)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202-46F0-91FC-B95E7D264BF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202-46F0-91FC-B95E7D264BF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202-46F0-91FC-B95E7D264BFB}"/>
              </c:ext>
            </c:extLst>
          </c:dPt>
          <c:dPt>
            <c:idx val="3"/>
            <c:invertIfNegative val="0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202-46F0-91FC-B95E7D264BFB}"/>
              </c:ext>
            </c:extLst>
          </c:dPt>
          <c:dPt>
            <c:idx val="4"/>
            <c:invertIfNegative val="0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202-46F0-91FC-B95E7D264BFB}"/>
              </c:ext>
            </c:extLst>
          </c:dPt>
          <c:dPt>
            <c:idx val="5"/>
            <c:invertIfNegative val="0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202-46F0-91FC-B95E7D264BFB}"/>
              </c:ext>
            </c:extLst>
          </c:dPt>
          <c:dPt>
            <c:idx val="6"/>
            <c:invertIfNegative val="0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202-46F0-91FC-B95E7D264BFB}"/>
              </c:ext>
            </c:extLst>
          </c:dPt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428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Cat_6</c:v>
                </c:pt>
                <c:pt idx="1">
                  <c:v>Cat_4</c:v>
                </c:pt>
                <c:pt idx="2">
                  <c:v>Cat_3</c:v>
                </c:pt>
                <c:pt idx="3">
                  <c:v>Cat_2</c:v>
                </c:pt>
                <c:pt idx="4">
                  <c:v>Cat_7</c:v>
                </c:pt>
                <c:pt idx="5">
                  <c:v>Cat_1</c:v>
                </c:pt>
                <c:pt idx="6">
                  <c:v>Cat_5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4199</c:v>
                </c:pt>
                <c:pt idx="1">
                  <c:v>852</c:v>
                </c:pt>
                <c:pt idx="2">
                  <c:v>668</c:v>
                </c:pt>
                <c:pt idx="3">
                  <c:v>342</c:v>
                </c:pt>
                <c:pt idx="4">
                  <c:v>160</c:v>
                </c:pt>
                <c:pt idx="5">
                  <c:v>112</c:v>
                </c:pt>
                <c:pt idx="6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202-46F0-91FC-B95E7D264B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12343B"/>
                </a:solidFill>
                <a:latin typeface="+mn-lt"/>
              </a:rPr>
              <a:t>Statistique H de Kruskal-Wallis (p &lt; 0,001 pour les trois)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428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Age</c:v>
                </c:pt>
                <c:pt idx="1">
                  <c:v>Family_Size</c:v>
                </c:pt>
                <c:pt idx="2">
                  <c:v>Work_Experience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1344.9</c:v>
                </c:pt>
                <c:pt idx="1">
                  <c:v>251</c:v>
                </c:pt>
                <c:pt idx="2">
                  <c:v>38.9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23-4AF8-87B6-47B8C420C1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200" b="0" i="0" u="none" strike="noStrike">
                <a:solidFill>
                  <a:srgbClr val="12343B"/>
                </a:solidFill>
                <a:latin typeface="+mn-lt"/>
              </a:rPr>
              <a:t>Gender (%)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Segment A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24.5</c:v>
                </c:pt>
                <c:pt idx="1">
                  <c:v>24.4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15-4C30-BB5A-CA7E2C33F9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Segment B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23.7</c:v>
                </c:pt>
                <c:pt idx="1">
                  <c:v>22.4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15-4C30-BB5A-CA7E2C33F9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Segment C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25.3</c:v>
                </c:pt>
                <c:pt idx="1">
                  <c:v>23.7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15-4C30-BB5A-CA7E2C33F9C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Segment D</c:v>
                </c:pt>
              </c:strCache>
            </c:strRef>
          </c:tx>
          <c:spPr>
            <a:solidFill>
              <a:srgbClr val="E91E6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26.5</c:v>
                </c:pt>
                <c:pt idx="1">
                  <c:v>29.5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115-4C30-BB5A-CA7E2C33F9C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CE5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200" b="0" i="0" u="none" strike="noStrike">
                <a:solidFill>
                  <a:srgbClr val="12343B"/>
                </a:solidFill>
                <a:latin typeface="+mn-lt"/>
              </a:rPr>
              <a:t>Ever_Married (%)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Segment A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24.5</c:v>
                </c:pt>
                <c:pt idx="1">
                  <c:v>24.5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02-4128-9C45-0F34A87481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Segment B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14.7</c:v>
                </c:pt>
                <c:pt idx="1">
                  <c:v>28.8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02-4128-9C45-0F34A87481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Segment C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</c:v>
                </c:pt>
                <c:pt idx="1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F02-4128-9C45-0F34A874817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Segment D</c:v>
                </c:pt>
              </c:strCache>
            </c:strRef>
          </c:tx>
          <c:spPr>
            <a:solidFill>
              <a:srgbClr val="E91E6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48.8</c:v>
                </c:pt>
                <c:pt idx="1">
                  <c:v>13.4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02-4128-9C45-0F34A874817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CE5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200" b="0" i="0" u="none" strike="noStrike">
                <a:solidFill>
                  <a:srgbClr val="12343B"/>
                </a:solidFill>
                <a:latin typeface="+mn-lt"/>
              </a:rPr>
              <a:t>Graduated (%)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Segment A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24.2</c:v>
                </c:pt>
                <c:pt idx="1">
                  <c:v>24.5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22-464C-9709-25E8CA8A9E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Segment B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16.8</c:v>
                </c:pt>
                <c:pt idx="1">
                  <c:v>26.8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22-464C-9709-25E8CA8A9E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Segment C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11.9</c:v>
                </c:pt>
                <c:pt idx="1">
                  <c:v>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622-464C-9709-25E8CA8A9E1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Segment D</c:v>
                </c:pt>
              </c:strCache>
            </c:strRef>
          </c:tx>
          <c:spPr>
            <a:solidFill>
              <a:srgbClr val="E91E6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47</c:v>
                </c:pt>
                <c:pt idx="1">
                  <c:v>16.899999999999999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622-464C-9709-25E8CA8A9E1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CE5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200" b="0" i="0" u="none" strike="noStrike">
                <a:solidFill>
                  <a:srgbClr val="12343B"/>
                </a:solidFill>
                <a:latin typeface="+mn-lt"/>
              </a:rPr>
              <a:t>Profession_group (%)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Segment A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Artist</c:v>
                </c:pt>
                <c:pt idx="1">
                  <c:v>Doctor</c:v>
                </c:pt>
                <c:pt idx="2">
                  <c:v>Engineer</c:v>
                </c:pt>
                <c:pt idx="3">
                  <c:v>Entertainment</c:v>
                </c:pt>
                <c:pt idx="4">
                  <c:v>Executive</c:v>
                </c:pt>
                <c:pt idx="5">
                  <c:v>Healthcare</c:v>
                </c:pt>
                <c:pt idx="6">
                  <c:v>Lawyer</c:v>
                </c:pt>
                <c:pt idx="7">
                  <c:v>Other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22.1</c:v>
                </c:pt>
                <c:pt idx="1">
                  <c:v>29.8</c:v>
                </c:pt>
                <c:pt idx="2">
                  <c:v>36.799999999999997</c:v>
                </c:pt>
                <c:pt idx="3">
                  <c:v>39.6</c:v>
                </c:pt>
                <c:pt idx="4">
                  <c:v>20.9</c:v>
                </c:pt>
                <c:pt idx="5">
                  <c:v>8.4</c:v>
                </c:pt>
                <c:pt idx="6">
                  <c:v>29.3</c:v>
                </c:pt>
                <c:pt idx="7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E0-4B61-9221-3075DF4F2E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Segment B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Artist</c:v>
                </c:pt>
                <c:pt idx="1">
                  <c:v>Doctor</c:v>
                </c:pt>
                <c:pt idx="2">
                  <c:v>Engineer</c:v>
                </c:pt>
                <c:pt idx="3">
                  <c:v>Entertainment</c:v>
                </c:pt>
                <c:pt idx="4">
                  <c:v>Executive</c:v>
                </c:pt>
                <c:pt idx="5">
                  <c:v>Healthcare</c:v>
                </c:pt>
                <c:pt idx="6">
                  <c:v>Lawyer</c:v>
                </c:pt>
                <c:pt idx="7">
                  <c:v>Other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30.2</c:v>
                </c:pt>
                <c:pt idx="1">
                  <c:v>19.899999999999999</c:v>
                </c:pt>
                <c:pt idx="2">
                  <c:v>27</c:v>
                </c:pt>
                <c:pt idx="3">
                  <c:v>21.7</c:v>
                </c:pt>
                <c:pt idx="4">
                  <c:v>31.1</c:v>
                </c:pt>
                <c:pt idx="5">
                  <c:v>8.1</c:v>
                </c:pt>
                <c:pt idx="6">
                  <c:v>26.1</c:v>
                </c:pt>
                <c:pt idx="7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E0-4B61-9221-3075DF4F2E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Segment C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Artist</c:v>
                </c:pt>
                <c:pt idx="1">
                  <c:v>Doctor</c:v>
                </c:pt>
                <c:pt idx="2">
                  <c:v>Engineer</c:v>
                </c:pt>
                <c:pt idx="3">
                  <c:v>Entertainment</c:v>
                </c:pt>
                <c:pt idx="4">
                  <c:v>Executive</c:v>
                </c:pt>
                <c:pt idx="5">
                  <c:v>Healthcare</c:v>
                </c:pt>
                <c:pt idx="6">
                  <c:v>Lawyer</c:v>
                </c:pt>
                <c:pt idx="7">
                  <c:v>Other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42.1</c:v>
                </c:pt>
                <c:pt idx="1">
                  <c:v>20.100000000000001</c:v>
                </c:pt>
                <c:pt idx="2">
                  <c:v>11.6</c:v>
                </c:pt>
                <c:pt idx="3">
                  <c:v>15.3</c:v>
                </c:pt>
                <c:pt idx="4">
                  <c:v>28.6</c:v>
                </c:pt>
                <c:pt idx="5">
                  <c:v>11.4</c:v>
                </c:pt>
                <c:pt idx="6">
                  <c:v>22.8</c:v>
                </c:pt>
                <c:pt idx="7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E0-4B61-9221-3075DF4F2E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Segment D</c:v>
                </c:pt>
              </c:strCache>
            </c:strRef>
          </c:tx>
          <c:spPr>
            <a:solidFill>
              <a:srgbClr val="E91E63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Artist</c:v>
                </c:pt>
                <c:pt idx="1">
                  <c:v>Doctor</c:v>
                </c:pt>
                <c:pt idx="2">
                  <c:v>Engineer</c:v>
                </c:pt>
                <c:pt idx="3">
                  <c:v>Entertainment</c:v>
                </c:pt>
                <c:pt idx="4">
                  <c:v>Executive</c:v>
                </c:pt>
                <c:pt idx="5">
                  <c:v>Healthcare</c:v>
                </c:pt>
                <c:pt idx="6">
                  <c:v>Lawyer</c:v>
                </c:pt>
                <c:pt idx="7">
                  <c:v>Other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5.6</c:v>
                </c:pt>
                <c:pt idx="1">
                  <c:v>30.2</c:v>
                </c:pt>
                <c:pt idx="2">
                  <c:v>24.6</c:v>
                </c:pt>
                <c:pt idx="3">
                  <c:v>23.4</c:v>
                </c:pt>
                <c:pt idx="4">
                  <c:v>19.399999999999999</c:v>
                </c:pt>
                <c:pt idx="5">
                  <c:v>72.2</c:v>
                </c:pt>
                <c:pt idx="6">
                  <c:v>21.8</c:v>
                </c:pt>
                <c:pt idx="7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AE0-4B61-9221-3075DF4F2E4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CE5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12343B"/>
                </a:solidFill>
                <a:latin typeface="+mn-lt"/>
              </a:rPr>
              <a:t>V de Cramér avec la segmentation (0 = indépendance, 1 = liaison parfaite)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 de Cramér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AC-4363-9914-A0E41EE6F0E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FAC-4363-9914-A0E41EE6F0E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FAC-4363-9914-A0E41EE6F0E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FAC-4363-9914-A0E41EE6F0E0}"/>
              </c:ext>
            </c:extLst>
          </c:dPt>
          <c:dPt>
            <c:idx val="4"/>
            <c:invertIfNegative val="0"/>
            <c:bubble3D val="0"/>
            <c:spPr>
              <a:solidFill>
                <a:srgbClr val="9FCF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FAC-4363-9914-A0E41EE6F0E0}"/>
              </c:ext>
            </c:extLst>
          </c:dPt>
          <c:dPt>
            <c:idx val="5"/>
            <c:invertIfNegative val="0"/>
            <c:bubble3D val="0"/>
            <c:spPr>
              <a:solidFill>
                <a:srgbClr val="9FCF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FAC-4363-9914-A0E41EE6F0E0}"/>
              </c:ext>
            </c:extLst>
          </c:dPt>
          <c:dPt>
            <c:idx val="6"/>
            <c:invertIfNegative val="0"/>
            <c:bubble3D val="0"/>
            <c:spPr>
              <a:solidFill>
                <a:srgbClr val="C9D3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FAC-4363-9914-A0E41EE6F0E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428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Ever_Married</c:v>
                </c:pt>
                <c:pt idx="1">
                  <c:v>Graduated</c:v>
                </c:pt>
                <c:pt idx="2">
                  <c:v>Profession_group</c:v>
                </c:pt>
                <c:pt idx="3">
                  <c:v>Spending_Score</c:v>
                </c:pt>
                <c:pt idx="4">
                  <c:v>Var_1_group</c:v>
                </c:pt>
                <c:pt idx="5">
                  <c:v>is_inexperienced</c:v>
                </c:pt>
                <c:pt idx="6">
                  <c:v>Gender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0.41699999999999998</c:v>
                </c:pt>
                <c:pt idx="1">
                  <c:v>0.35199999999999998</c:v>
                </c:pt>
                <c:pt idx="2">
                  <c:v>0.32700000000000001</c:v>
                </c:pt>
                <c:pt idx="3">
                  <c:v>0.30499999999999999</c:v>
                </c:pt>
                <c:pt idx="4">
                  <c:v>0.10299999999999999</c:v>
                </c:pt>
                <c:pt idx="5">
                  <c:v>8.4000000000000005E-2</c:v>
                </c:pt>
                <c:pt idx="6">
                  <c:v>3.5000000000000003E-2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FAC-4363-9914-A0E41EE6F0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12343B"/>
                </a:solidFill>
                <a:latin typeface="+mn-lt"/>
              </a:rPr>
              <a:t>F1-macro moyen en validation croisée stratifiée (5 folds)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B7C7C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428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Régression logistique</c:v>
                </c:pt>
                <c:pt idx="1">
                  <c:v>Random Forest</c:v>
                </c:pt>
                <c:pt idx="2">
                  <c:v>XGBoost</c:v>
                </c:pt>
                <c:pt idx="3">
                  <c:v>LightGBM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0.49559999999999998</c:v>
                </c:pt>
                <c:pt idx="1">
                  <c:v>0.52290000000000003</c:v>
                </c:pt>
                <c:pt idx="2">
                  <c:v>0.66139999999999999</c:v>
                </c:pt>
                <c:pt idx="3">
                  <c:v>0.68759999999999999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0-4254-9822-748FBFFD80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428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Régression logistique</c:v>
                </c:pt>
                <c:pt idx="1">
                  <c:v>Random Forest</c:v>
                </c:pt>
                <c:pt idx="2">
                  <c:v>XGBoost</c:v>
                </c:pt>
                <c:pt idx="3">
                  <c:v>LightGBM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0.4874</c:v>
                </c:pt>
                <c:pt idx="1">
                  <c:v>0.50360000000000005</c:v>
                </c:pt>
                <c:pt idx="2">
                  <c:v>0.51090000000000002</c:v>
                </c:pt>
                <c:pt idx="3">
                  <c:v>0.50119999999999998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80-4254-9822-748FBFFD80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3"/>
        </c:scaling>
        <c:delete val="0"/>
        <c:axPos val="l"/>
        <c:majorGridlines>
          <c:spPr>
            <a:ln w="9525" cap="flat">
              <a:solidFill>
                <a:srgbClr val="DCE5E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12343B"/>
                </a:solidFill>
                <a:latin typeface="+mn-lt"/>
              </a:rPr>
              <a:t>Précision, rappel et F1 par segment (jeu de test)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Précision</c:v>
                </c:pt>
              </c:strCache>
            </c:strRef>
          </c:tx>
          <c:spPr>
            <a:solidFill>
              <a:srgbClr val="B7C7C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28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0.43</c:v>
                </c:pt>
                <c:pt idx="2">
                  <c:v>0.57999999999999996</c:v>
                </c:pt>
                <c:pt idx="3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70-45B0-AEB5-8220815497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Rappel</c:v>
                </c:pt>
              </c:strCache>
            </c:strRef>
          </c:tx>
          <c:spPr>
            <a:solidFill>
              <a:srgbClr val="6FB5A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28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0.32</c:v>
                </c:pt>
                <c:pt idx="2">
                  <c:v>0.59</c:v>
                </c:pt>
                <c:pt idx="3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70-45B0-AEB5-8220815497A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2343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28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0.45</c:v>
                </c:pt>
                <c:pt idx="1">
                  <c:v>0.37</c:v>
                </c:pt>
                <c:pt idx="2">
                  <c:v>0.59</c:v>
                </c:pt>
                <c:pt idx="3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70-45B0-AEB5-8220815497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9525" cap="flat">
              <a:solidFill>
                <a:srgbClr val="DCE5E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3"/>
                </a:solidFill>
                <a:latin typeface="+mn-lt"/>
              </a:defRPr>
            </a:pPr>
            <a:endParaRPr lang="fr-FR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466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cas pratique : prédire le segment d'un client (A, B, C ou D) à partir de ses caractéristiques. Déroulé : compréhension du problème, analyse exploratoire, préparation et modélisation, résultats, conclusion et pistes d'amélioration.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principal : un modèle XGBoost qui fait nettement mieux que le hasard (F1-macro 0,53 contre 0,25), qui généralise bien, et qui identifie très bien le segment D. Les segments A et B restent difficiles à séparer avec les variables disponibles.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F1-macro est adapté ici car on veut bien prédire tous les segments, pas seulement le plus fréquent. Avec 4 classes, un modèle aléatoire obtiendrait environ 0,25.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jeu contient 11 colonnes : un identifiant, 9 variables explicatives et la cible. Work_Experience est la variable la plus incomplète (environ 10 % de valeurs manquantes). Le split est fait avant toute analyse pour éviter les fuites d'information.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démarche suit un pipeline classique de data science. Le point clé est l'isolement du jeu de test : il ne sert qu'à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répartition des segments est quasi uniforme, ce qui simplifie la modélisation et rend le F1-macro et l'accuracy assez proches.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et boxplot des trois variables numériques sur le train. Aucune ne suit une loi normale : cela oriente vers des tests non paramétriques et une imputation par la médiane.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variables catégorielles sont souvent dominées par une modalité. Profession et Var_1 comportent en plus des modalités rares, traitées sur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modalités rares sont regroupées selon leur fréquence et leur répartition par segment. Un premier regroupement plus agressif des professions (par exemple Artist avec Entertainment, Doctor avec Healthcare) a été abandonné, car il mélangeait des profils de segments opposés. Le mapping, défini sur le train, est appliqué tel quel au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distributions n'étant pas normales, on utilise le test non paramétrique de Kruskal-Wallis. La statistique H montre un effet beaucoup plus fort pour l'âge (1 345) que pour la taille de famille (251) et l'expérience (39).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densités confirment les boxplots et montrent la forme des distributions : on voit nettement trois populations d'âge différentes.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chaque variable catégorielle, on regarde la répartition des segments au sein de chaque modalité. Le genre ne fait presque pas varier la répartition ; le statut marital, le diplôme et la profession font apparaître des contrastes très marqués, surtout pour le segment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du Chi² d'indépendance entre chaque variable catégorielle et la cible, complété par le V de Cramér pour mesurer l'intensité. Seul le genre n'est pas significatif.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cherche les redondances entre variables explicatives. Les variables numériques sont peu corrélées ; les variables catégorielles partagent une partie de leur information, surtout autour du statut marital.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choix découle de l'exploration : médiane car distributions asymétriques ; imputation par segment car Family_Size et les catégorielles varient selon le segment. Les imputations par segment n'alimentent que la régression logistique et la Random Forest ; XGBoost utilise les variables d'origine.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pipelines scikit-learn (ColumnTransformer) garantissent que l'encodage et la mise à l'échelle sont appris sur les seuls folds d'entraînement pendant la validation croisée.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quatre modèles sont d'abord paramétrés à la main pour obtenir une baseline. On compare train et validation pour repérer le sur-apprentissage. XGBoost a le meilleur score de validation ; son écart train/validation sera traité par l'optimisation.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variables combinent des informations déjà présentes pour faciliter le travail des arbres. On verra que stable_profile devient la variable la plus importante du modèle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Optuna avec 100 essais (environ 10 minutes). Le gain brut est faible, mais le vrai bénéfice est la réduction de l'écart train/validation de 0,15 à 0,03 : le modèle est beaucoup plus 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modèle final est entraîné sur tout le train puis évalué une seule fois sur le test. Le score global moyen s'explique par les segments A et B, mal séparés des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ligne normalisée donne le rappel de chaque segment. La confusion se concentre sur B, coincé entre A et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Importance native de XGBoost. La cohérence avec l'analyse exploratoire est rassurante. Les importances sont à lire avec prudence car plusieurs variables sont corrélées (statut marital, profession, dépenses).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valeurs SHAP donnent la contribution de chaque variable à la prédiction, client par client et pour chacune des 4 classes. Pour B et D, l'âge et l'âge d'entrée dans la vie active jouent en sens opposés.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stable_profile est la variable la plus importante du modèle : elle sépare les profils installés (B, C) des autres (A, D). Les indicateurs binaires simples apportent peu. La proximité des contributions entre B et C explique la confusion observée.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Traduction métier des résultats : chaque segment a un profil dominant. D est très typé (jeunes, célibataires), ce qui explique sa bonne prédiction ; B et C partagent les mêmes traits, d'où la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Récapitulatif : démarche complète et rigoureuse, modèle qui généralise, interprétable grâce à SHAP. La limite principale vient du pouvoir discriminant des variables pour A et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premières pistes viennent directement de l'analyse des erreurs. La piste production : l'imputation par segment n'est pas applicable à un nouveau client dont on ne connaît pas le segment ; elle n'affecte pas le XGBoost final, qui utilise les variables d'origine, mais doit être revue pour les autres modèles.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686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93192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6000" b="1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01752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402336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E73"/>
                </a:solidFill>
              </a:rPr>
              <a:t>Segmentation client · Projet JAKALA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Segmentation client : prédire le segment A, B, C ou D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931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Classification multiclasse supervisée — de l'analyse exploratoire à un modèle XGBoost interprété</a:t>
            </a:r>
            <a:endParaRPr lang="en-US" sz="2000" dirty="0"/>
          </a:p>
        </p:txBody>
      </p:sp>
      <p:sp>
        <p:nvSpPr>
          <p:cNvPr id="4" name="pastille-1"/>
          <p:cNvSpPr/>
          <p:nvPr/>
        </p:nvSpPr>
        <p:spPr>
          <a:xfrm>
            <a:off x="9692640" y="21945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stille-texte-2"/>
          <p:cNvSpPr txBox="1"/>
          <p:nvPr/>
        </p:nvSpPr>
        <p:spPr>
          <a:xfrm>
            <a:off x="969264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A</a:t>
            </a:r>
            <a:endParaRPr lang="en-US" sz="2600" dirty="0"/>
          </a:p>
        </p:txBody>
      </p:sp>
      <p:sp>
        <p:nvSpPr>
          <p:cNvPr id="6" name="pastille-3"/>
          <p:cNvSpPr/>
          <p:nvPr/>
        </p:nvSpPr>
        <p:spPr>
          <a:xfrm>
            <a:off x="10835640" y="219456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pastille-texte-4"/>
          <p:cNvSpPr txBox="1"/>
          <p:nvPr/>
        </p:nvSpPr>
        <p:spPr>
          <a:xfrm>
            <a:off x="1083564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B</a:t>
            </a:r>
            <a:endParaRPr lang="en-US" sz="2600" dirty="0"/>
          </a:p>
        </p:txBody>
      </p:sp>
      <p:sp>
        <p:nvSpPr>
          <p:cNvPr id="8" name="pastille-5"/>
          <p:cNvSpPr/>
          <p:nvPr/>
        </p:nvSpPr>
        <p:spPr>
          <a:xfrm>
            <a:off x="9692640" y="333756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tille-texte-6"/>
          <p:cNvSpPr txBox="1"/>
          <p:nvPr/>
        </p:nvSpPr>
        <p:spPr>
          <a:xfrm>
            <a:off x="9692640" y="3337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C</a:t>
            </a:r>
            <a:endParaRPr lang="en-US" sz="2600" dirty="0"/>
          </a:p>
        </p:txBody>
      </p:sp>
      <p:sp>
        <p:nvSpPr>
          <p:cNvPr id="10" name="pastille-7"/>
          <p:cNvSpPr/>
          <p:nvPr/>
        </p:nvSpPr>
        <p:spPr>
          <a:xfrm>
            <a:off x="10835640" y="333756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pastille-texte-8"/>
          <p:cNvSpPr txBox="1"/>
          <p:nvPr/>
        </p:nvSpPr>
        <p:spPr>
          <a:xfrm>
            <a:off x="10835640" y="3337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D</a:t>
            </a:r>
            <a:endParaRPr lang="en-US" sz="2600" dirty="0"/>
          </a:p>
        </p:txBody>
      </p:sp>
      <p:sp>
        <p:nvSpPr>
          <p:cNvPr id="12" name="texte-9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Projet JAKALA · Octobre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L'essentiel en une slide</a:t>
            </a:r>
            <a:endParaRPr lang="en-US" sz="3000" dirty="0"/>
          </a:p>
        </p:txBody>
      </p:sp>
      <p:sp>
        <p:nvSpPr>
          <p:cNvPr id="3" name="carte-10"/>
          <p:cNvSpPr/>
          <p:nvPr/>
        </p:nvSpPr>
        <p:spPr>
          <a:xfrm>
            <a:off x="548640" y="1325880"/>
            <a:ext cx="256786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e-11"/>
          <p:cNvSpPr txBox="1"/>
          <p:nvPr/>
        </p:nvSpPr>
        <p:spPr>
          <a:xfrm>
            <a:off x="777240" y="1490472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8 068</a:t>
            </a:r>
            <a:endParaRPr lang="en-US" sz="4000" dirty="0"/>
          </a:p>
        </p:txBody>
      </p:sp>
      <p:sp>
        <p:nvSpPr>
          <p:cNvPr id="5" name="texte-12"/>
          <p:cNvSpPr txBox="1"/>
          <p:nvPr/>
        </p:nvSpPr>
        <p:spPr>
          <a:xfrm>
            <a:off x="777240" y="21945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clients, 9 variables explicatives</a:t>
            </a:r>
            <a:endParaRPr lang="en-US" sz="1300" dirty="0"/>
          </a:p>
        </p:txBody>
      </p:sp>
      <p:sp>
        <p:nvSpPr>
          <p:cNvPr id="6" name="carte-13"/>
          <p:cNvSpPr/>
          <p:nvPr/>
        </p:nvSpPr>
        <p:spPr>
          <a:xfrm>
            <a:off x="3390824" y="1325880"/>
            <a:ext cx="256786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e-14"/>
          <p:cNvSpPr txBox="1"/>
          <p:nvPr/>
        </p:nvSpPr>
        <p:spPr>
          <a:xfrm>
            <a:off x="3619424" y="1490472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4</a:t>
            </a:r>
            <a:endParaRPr lang="en-US" sz="4000" dirty="0"/>
          </a:p>
        </p:txBody>
      </p:sp>
      <p:sp>
        <p:nvSpPr>
          <p:cNvPr id="8" name="texte-15"/>
          <p:cNvSpPr txBox="1"/>
          <p:nvPr/>
        </p:nvSpPr>
        <p:spPr>
          <a:xfrm>
            <a:off x="3619424" y="21945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segments équilibrés (23 % à 28 %)</a:t>
            </a:r>
            <a:endParaRPr lang="en-US" sz="1300" dirty="0"/>
          </a:p>
        </p:txBody>
      </p:sp>
      <p:sp>
        <p:nvSpPr>
          <p:cNvPr id="9" name="carte-16"/>
          <p:cNvSpPr/>
          <p:nvPr/>
        </p:nvSpPr>
        <p:spPr>
          <a:xfrm>
            <a:off x="6233008" y="1325880"/>
            <a:ext cx="256786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e-17"/>
          <p:cNvSpPr txBox="1"/>
          <p:nvPr/>
        </p:nvSpPr>
        <p:spPr>
          <a:xfrm>
            <a:off x="6461608" y="1490472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XGBoost</a:t>
            </a:r>
            <a:endParaRPr lang="en-US" sz="3400" dirty="0"/>
          </a:p>
        </p:txBody>
      </p:sp>
      <p:sp>
        <p:nvSpPr>
          <p:cNvPr id="11" name="texte-18"/>
          <p:cNvSpPr txBox="1"/>
          <p:nvPr/>
        </p:nvSpPr>
        <p:spPr>
          <a:xfrm>
            <a:off x="6461608" y="21945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retenu après benchmark de 4 modèles</a:t>
            </a:r>
            <a:endParaRPr lang="en-US" sz="1300" dirty="0"/>
          </a:p>
        </p:txBody>
      </p:sp>
      <p:sp>
        <p:nvSpPr>
          <p:cNvPr id="12" name="carte-19"/>
          <p:cNvSpPr/>
          <p:nvPr/>
        </p:nvSpPr>
        <p:spPr>
          <a:xfrm>
            <a:off x="9075191" y="1325880"/>
            <a:ext cx="256786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e-20"/>
          <p:cNvSpPr txBox="1"/>
          <p:nvPr/>
        </p:nvSpPr>
        <p:spPr>
          <a:xfrm>
            <a:off x="9303791" y="1490472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0,53</a:t>
            </a:r>
            <a:endParaRPr lang="en-US" sz="4000" dirty="0"/>
          </a:p>
        </p:txBody>
      </p:sp>
      <p:sp>
        <p:nvSpPr>
          <p:cNvPr id="14" name="texte-21"/>
          <p:cNvSpPr txBox="1"/>
          <p:nvPr/>
        </p:nvSpPr>
        <p:spPr>
          <a:xfrm>
            <a:off x="9303791" y="21945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F1-macro sur le jeu de test (hasard : 0,25)</a:t>
            </a:r>
            <a:endParaRPr lang="en-US" sz="1300" dirty="0"/>
          </a:p>
        </p:txBody>
      </p:sp>
      <p:sp>
        <p:nvSpPr>
          <p:cNvPr id="15" name="pastille-22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pastille-texte-23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e-24"/>
          <p:cNvSpPr txBox="1"/>
          <p:nvPr/>
        </p:nvSpPr>
        <p:spPr>
          <a:xfrm>
            <a:off x="1280160" y="3108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 qui détermine le segment</a:t>
            </a:r>
            <a:endParaRPr lang="en-US" sz="1700" dirty="0"/>
          </a:p>
        </p:txBody>
      </p:sp>
      <p:sp>
        <p:nvSpPr>
          <p:cNvPr id="18" name="texte-25"/>
          <p:cNvSpPr txBox="1"/>
          <p:nvPr/>
        </p:nvSpPr>
        <p:spPr>
          <a:xfrm>
            <a:off x="4663440" y="3108960"/>
            <a:ext cx="6979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L'âge, le statut marital, le diplôme, la profession et le score de dépenses. Le genre n'a pas d'effet significatif.</a:t>
            </a:r>
            <a:endParaRPr lang="en-US" sz="1500" dirty="0"/>
          </a:p>
        </p:txBody>
      </p:sp>
      <p:sp>
        <p:nvSpPr>
          <p:cNvPr id="19" name="pastille-26"/>
          <p:cNvSpPr/>
          <p:nvPr/>
        </p:nvSpPr>
        <p:spPr>
          <a:xfrm>
            <a:off x="548640" y="417880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pastille-texte-27"/>
          <p:cNvSpPr txBox="1"/>
          <p:nvPr/>
        </p:nvSpPr>
        <p:spPr>
          <a:xfrm>
            <a:off x="54864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e-28"/>
          <p:cNvSpPr txBox="1"/>
          <p:nvPr/>
        </p:nvSpPr>
        <p:spPr>
          <a:xfrm>
            <a:off x="1280160" y="41330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 que le modèle fait bien</a:t>
            </a:r>
            <a:endParaRPr lang="en-US" sz="1700" dirty="0"/>
          </a:p>
        </p:txBody>
      </p:sp>
      <p:sp>
        <p:nvSpPr>
          <p:cNvPr id="22" name="texte-29"/>
          <p:cNvSpPr txBox="1"/>
          <p:nvPr/>
        </p:nvSpPr>
        <p:spPr>
          <a:xfrm>
            <a:off x="4663440" y="4133088"/>
            <a:ext cx="6979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Le segment D (jeunes, non mariés) est bien reconnu : 77 % de rappel, F1 ≈ 0,70. Le modèle généralise (écart train/validation ≈ 0,03).</a:t>
            </a:r>
            <a:endParaRPr lang="en-US" sz="1500" dirty="0"/>
          </a:p>
        </p:txBody>
      </p:sp>
      <p:sp>
        <p:nvSpPr>
          <p:cNvPr id="23" name="pastille-30"/>
          <p:cNvSpPr/>
          <p:nvPr/>
        </p:nvSpPr>
        <p:spPr>
          <a:xfrm>
            <a:off x="548640" y="5202936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pastille-texte-31"/>
          <p:cNvSpPr txBox="1"/>
          <p:nvPr/>
        </p:nvSpPr>
        <p:spPr>
          <a:xfrm>
            <a:off x="548640" y="5202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texte-32"/>
          <p:cNvSpPr txBox="1"/>
          <p:nvPr/>
        </p:nvSpPr>
        <p:spPr>
          <a:xfrm>
            <a:off x="1280160" y="51572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 qui reste difficile</a:t>
            </a:r>
            <a:endParaRPr lang="en-US" sz="1700" dirty="0"/>
          </a:p>
        </p:txBody>
      </p:sp>
      <p:sp>
        <p:nvSpPr>
          <p:cNvPr id="26" name="texte-33"/>
          <p:cNvSpPr txBox="1"/>
          <p:nvPr/>
        </p:nvSpPr>
        <p:spPr>
          <a:xfrm>
            <a:off x="4663440" y="5157216"/>
            <a:ext cx="6979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Les segments A et surtout B, aux profils proches de C. Pistes : nouvelles variables discriminantes et approche en deux étapes.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Comprendre le problème : une classification multiclasse</a:t>
            </a:r>
            <a:endParaRPr lang="en-US" sz="3000" dirty="0"/>
          </a:p>
        </p:txBody>
      </p:sp>
      <p:sp>
        <p:nvSpPr>
          <p:cNvPr id="3" name="carte-34"/>
          <p:cNvSpPr/>
          <p:nvPr/>
        </p:nvSpPr>
        <p:spPr>
          <a:xfrm>
            <a:off x="548640" y="1325880"/>
            <a:ext cx="576072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e-35"/>
          <p:cNvSpPr txBox="1"/>
          <p:nvPr/>
        </p:nvSpPr>
        <p:spPr>
          <a:xfrm>
            <a:off x="86868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Objectif</a:t>
            </a:r>
            <a:endParaRPr lang="en-US" sz="2000" dirty="0"/>
          </a:p>
        </p:txBody>
      </p:sp>
      <p:sp>
        <p:nvSpPr>
          <p:cNvPr id="5" name="liste-36"/>
          <p:cNvSpPr txBox="1"/>
          <p:nvPr/>
        </p:nvSpPr>
        <p:spPr>
          <a:xfrm>
            <a:off x="868680" y="20574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Prédire le </a:t>
            </a:r>
            <a:r>
              <a:rPr lang="en-US" sz="1500" b="1" dirty="0">
                <a:solidFill>
                  <a:schemeClr val="tx1"/>
                </a:solidFill>
              </a:rPr>
              <a:t>segment (A, B, C ou D)</a:t>
            </a:r>
            <a:r>
              <a:rPr lang="en-US" sz="1500" dirty="0">
                <a:solidFill>
                  <a:schemeClr val="tx1"/>
                </a:solidFill>
              </a:rPr>
              <a:t> d'un client à partir de ses caractéristiques socio-démographiques et de son comportement de dépense.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Problème de </a:t>
            </a:r>
            <a:r>
              <a:rPr lang="en-US" sz="1500" b="1" dirty="0">
                <a:solidFill>
                  <a:schemeClr val="tx1"/>
                </a:solidFill>
              </a:rPr>
              <a:t>classification multiclasse supervisée</a:t>
            </a:r>
            <a:r>
              <a:rPr lang="en-US" sz="1500" dirty="0">
                <a:solidFill>
                  <a:schemeClr val="tx1"/>
                </a:solidFill>
              </a:rPr>
              <a:t> : la cible </a:t>
            </a:r>
            <a:r>
              <a:rPr lang="en-US" sz="1500" b="1" dirty="0">
                <a:solidFill>
                  <a:schemeClr val="tx1"/>
                </a:solidFill>
              </a:rPr>
              <a:t>Segmentation</a:t>
            </a:r>
            <a:r>
              <a:rPr lang="en-US" sz="1500" dirty="0">
                <a:solidFill>
                  <a:schemeClr val="tx1"/>
                </a:solidFill>
              </a:rPr>
              <a:t> est connue sur l'historique.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Usage métier : affecter automatiquement un nouveau client à un segment pour adapter l'offre et la communication.</a:t>
            </a:r>
            <a:endParaRPr lang="en-US" sz="1500" dirty="0"/>
          </a:p>
        </p:txBody>
      </p:sp>
      <p:sp>
        <p:nvSpPr>
          <p:cNvPr id="6" name="texte-37"/>
          <p:cNvSpPr txBox="1"/>
          <p:nvPr/>
        </p:nvSpPr>
        <p:spPr>
          <a:xfrm>
            <a:off x="86868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Métrique : F1-macro</a:t>
            </a:r>
            <a:endParaRPr lang="en-US" sz="2000" dirty="0"/>
          </a:p>
        </p:txBody>
      </p:sp>
      <p:sp>
        <p:nvSpPr>
          <p:cNvPr id="7" name="texte-38"/>
          <p:cNvSpPr txBox="1"/>
          <p:nvPr/>
        </p:nvSpPr>
        <p:spPr>
          <a:xfrm>
            <a:off x="868680" y="4937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Moyenne non pondérée des F1 de chaque segment : chaque segment compte autant, quelle que soit sa taille. Référence d'un tirage au hasard : 0,25.</a:t>
            </a:r>
            <a:endParaRPr lang="en-US" sz="1500" dirty="0"/>
          </a:p>
        </p:txBody>
      </p:sp>
      <p:sp>
        <p:nvSpPr>
          <p:cNvPr id="8" name="texte-39"/>
          <p:cNvSpPr txBox="1"/>
          <p:nvPr/>
        </p:nvSpPr>
        <p:spPr>
          <a:xfrm>
            <a:off x="67665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Les 4 segments à prédire</a:t>
            </a:r>
            <a:endParaRPr lang="en-US" sz="1800" dirty="0"/>
          </a:p>
        </p:txBody>
      </p:sp>
      <p:sp>
        <p:nvSpPr>
          <p:cNvPr id="9" name="pastille-40"/>
          <p:cNvSpPr/>
          <p:nvPr/>
        </p:nvSpPr>
        <p:spPr>
          <a:xfrm>
            <a:off x="676656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astille-texte-41"/>
          <p:cNvSpPr txBox="1"/>
          <p:nvPr/>
        </p:nvSpPr>
        <p:spPr>
          <a:xfrm>
            <a:off x="67665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A</a:t>
            </a:r>
            <a:endParaRPr lang="en-US" sz="2200" dirty="0"/>
          </a:p>
        </p:txBody>
      </p:sp>
      <p:sp>
        <p:nvSpPr>
          <p:cNvPr id="11" name="texte-42"/>
          <p:cNvSpPr txBox="1"/>
          <p:nvPr/>
        </p:nvSpPr>
        <p:spPr>
          <a:xfrm>
            <a:off x="772668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Segment A</a:t>
            </a:r>
            <a:endParaRPr lang="en-US" sz="1600" dirty="0"/>
          </a:p>
        </p:txBody>
      </p:sp>
      <p:sp>
        <p:nvSpPr>
          <p:cNvPr id="12" name="texte-43"/>
          <p:cNvSpPr txBox="1"/>
          <p:nvPr/>
        </p:nvSpPr>
        <p:spPr>
          <a:xfrm>
            <a:off x="772668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E73"/>
                </a:solidFill>
              </a:rPr>
              <a:t>1 578 clients · 24,4 %</a:t>
            </a:r>
            <a:endParaRPr lang="en-US" sz="1400" dirty="0"/>
          </a:p>
        </p:txBody>
      </p:sp>
      <p:sp>
        <p:nvSpPr>
          <p:cNvPr id="13" name="pastille-44"/>
          <p:cNvSpPr/>
          <p:nvPr/>
        </p:nvSpPr>
        <p:spPr>
          <a:xfrm>
            <a:off x="6766560" y="30175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pastille-texte-45"/>
          <p:cNvSpPr txBox="1"/>
          <p:nvPr/>
        </p:nvSpPr>
        <p:spPr>
          <a:xfrm>
            <a:off x="676656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B</a:t>
            </a:r>
            <a:endParaRPr lang="en-US" sz="2200" dirty="0"/>
          </a:p>
        </p:txBody>
      </p:sp>
      <p:sp>
        <p:nvSpPr>
          <p:cNvPr id="15" name="texte-46"/>
          <p:cNvSpPr txBox="1"/>
          <p:nvPr/>
        </p:nvSpPr>
        <p:spPr>
          <a:xfrm>
            <a:off x="772668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Segment B</a:t>
            </a:r>
            <a:endParaRPr lang="en-US" sz="1600" dirty="0"/>
          </a:p>
        </p:txBody>
      </p:sp>
      <p:sp>
        <p:nvSpPr>
          <p:cNvPr id="16" name="texte-47"/>
          <p:cNvSpPr txBox="1"/>
          <p:nvPr/>
        </p:nvSpPr>
        <p:spPr>
          <a:xfrm>
            <a:off x="7726680" y="3401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E73"/>
                </a:solidFill>
              </a:rPr>
              <a:t>1 486 clients · 23,0 %</a:t>
            </a:r>
            <a:endParaRPr lang="en-US" sz="1400" dirty="0"/>
          </a:p>
        </p:txBody>
      </p:sp>
      <p:sp>
        <p:nvSpPr>
          <p:cNvPr id="17" name="pastille-48"/>
          <p:cNvSpPr/>
          <p:nvPr/>
        </p:nvSpPr>
        <p:spPr>
          <a:xfrm>
            <a:off x="6766560" y="4023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pastille-texte-49"/>
          <p:cNvSpPr txBox="1"/>
          <p:nvPr/>
        </p:nvSpPr>
        <p:spPr>
          <a:xfrm>
            <a:off x="676656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C</a:t>
            </a:r>
            <a:endParaRPr lang="en-US" sz="2200" dirty="0"/>
          </a:p>
        </p:txBody>
      </p:sp>
      <p:sp>
        <p:nvSpPr>
          <p:cNvPr id="19" name="texte-50"/>
          <p:cNvSpPr txBox="1"/>
          <p:nvPr/>
        </p:nvSpPr>
        <p:spPr>
          <a:xfrm>
            <a:off x="7726680" y="4069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Segment C</a:t>
            </a:r>
            <a:endParaRPr lang="en-US" sz="1600" dirty="0"/>
          </a:p>
        </p:txBody>
      </p:sp>
      <p:sp>
        <p:nvSpPr>
          <p:cNvPr id="20" name="texte-51"/>
          <p:cNvSpPr txBox="1"/>
          <p:nvPr/>
        </p:nvSpPr>
        <p:spPr>
          <a:xfrm>
            <a:off x="7726680" y="4407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E73"/>
                </a:solidFill>
              </a:rPr>
              <a:t>1 576 clients · 24,4 %</a:t>
            </a:r>
            <a:endParaRPr lang="en-US" sz="1400" dirty="0"/>
          </a:p>
        </p:txBody>
      </p:sp>
      <p:sp>
        <p:nvSpPr>
          <p:cNvPr id="21" name="pastille-52"/>
          <p:cNvSpPr/>
          <p:nvPr/>
        </p:nvSpPr>
        <p:spPr>
          <a:xfrm>
            <a:off x="6766560" y="50292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astille-texte-53"/>
          <p:cNvSpPr txBox="1"/>
          <p:nvPr/>
        </p:nvSpPr>
        <p:spPr>
          <a:xfrm>
            <a:off x="676656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D</a:t>
            </a:r>
            <a:endParaRPr lang="en-US" sz="2200" dirty="0"/>
          </a:p>
        </p:txBody>
      </p:sp>
      <p:sp>
        <p:nvSpPr>
          <p:cNvPr id="23" name="texte-54"/>
          <p:cNvSpPr txBox="1"/>
          <p:nvPr/>
        </p:nvSpPr>
        <p:spPr>
          <a:xfrm>
            <a:off x="7726680" y="5074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Segment D</a:t>
            </a:r>
            <a:endParaRPr lang="en-US" sz="1600" dirty="0"/>
          </a:p>
        </p:txBody>
      </p:sp>
      <p:sp>
        <p:nvSpPr>
          <p:cNvPr id="24" name="texte-55"/>
          <p:cNvSpPr txBox="1"/>
          <p:nvPr/>
        </p:nvSpPr>
        <p:spPr>
          <a:xfrm>
            <a:off x="7726680" y="5413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E73"/>
                </a:solidFill>
              </a:rPr>
              <a:t>1 814 clients · 28,1 %</a:t>
            </a:r>
            <a:endParaRPr lang="en-US" sz="1400" dirty="0"/>
          </a:p>
        </p:txBody>
      </p:sp>
      <p:sp>
        <p:nvSpPr>
          <p:cNvPr id="25" name="texte-56"/>
          <p:cNvSpPr txBox="1"/>
          <p:nvPr/>
        </p:nvSpPr>
        <p:spPr>
          <a:xfrm>
            <a:off x="6766560" y="6035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E73"/>
                </a:solidFill>
              </a:rPr>
              <a:t>Effectifs du jeu d'entraînement (6 454 clients)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Les données : 8 068 clients décrits par 9 variables</a:t>
            </a:r>
            <a:endParaRPr lang="en-US" sz="3000" dirty="0"/>
          </a:p>
        </p:txBody>
      </p:sp>
      <p:graphicFrame>
        <p:nvGraphicFramePr>
          <p:cNvPr id="5" name="tableau-variab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309360" cy="432511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Gender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Catégorielle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Genre du client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Ever_Married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Catégorielle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Déjà marié (oui / non)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Numérique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Âge du client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Graduated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Catégorielle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Diplômé (oui / non)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Profession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Catégorielle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Profession (9 modalités)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Work_Experience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Numérique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Expérience professionnelle (années)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Spending_Score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Ordinale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Score de dépenses : Low &lt; Average &lt; High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Family_Size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Numérique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Taille du foyer (client inclus)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Var_1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Catégorielle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Catégorie anonymisée (7 modalités)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Segmentation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Cible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Segment A, B, C ou D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" name="graphique-manquants"/>
          <p:cNvGraphicFramePr/>
          <p:nvPr/>
        </p:nvGraphicFramePr>
        <p:xfrm>
          <a:off x="7223760" y="1280160"/>
          <a:ext cx="4419295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liste-57"/>
          <p:cNvSpPr txBox="1"/>
          <p:nvPr/>
        </p:nvSpPr>
        <p:spPr>
          <a:xfrm>
            <a:off x="7223760" y="4800600"/>
            <a:ext cx="4419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Split stratifié 80 / 20</a:t>
            </a:r>
            <a:r>
              <a:rPr lang="en-US" sz="1400" dirty="0">
                <a:solidFill>
                  <a:schemeClr val="tx1"/>
                </a:solidFill>
              </a:rPr>
              <a:t> dès le départ : 6 454 clients en train, 1 614 en test.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Toute l'analyse et tous les paramètres de preprocessing sont calculés </a:t>
            </a:r>
            <a:r>
              <a:rPr lang="en-US" sz="1400" b="1" dirty="0">
                <a:solidFill>
                  <a:schemeClr val="tx1"/>
                </a:solidFill>
              </a:rPr>
              <a:t>sur le train uniquement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Une démarche en six étapes</a:t>
            </a:r>
            <a:endParaRPr lang="en-US" sz="3000" dirty="0"/>
          </a:p>
        </p:txBody>
      </p:sp>
      <p:sp>
        <p:nvSpPr>
          <p:cNvPr id="3" name="carte-58"/>
          <p:cNvSpPr/>
          <p:nvPr/>
        </p:nvSpPr>
        <p:spPr>
          <a:xfrm>
            <a:off x="548640" y="1463040"/>
            <a:ext cx="1658569" cy="3017520"/>
          </a:xfrm>
          <a:prstGeom prst="roundRect">
            <a:avLst>
              <a:gd name="adj" fmla="val 44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pastille-59"/>
          <p:cNvSpPr/>
          <p:nvPr/>
        </p:nvSpPr>
        <p:spPr>
          <a:xfrm>
            <a:off x="1035025" y="169164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pastille-texte-60"/>
          <p:cNvSpPr txBox="1"/>
          <p:nvPr/>
        </p:nvSpPr>
        <p:spPr>
          <a:xfrm>
            <a:off x="1035025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e-61"/>
          <p:cNvSpPr txBox="1"/>
          <p:nvPr/>
        </p:nvSpPr>
        <p:spPr>
          <a:xfrm>
            <a:off x="685800" y="256032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Split</a:t>
            </a:r>
            <a:endParaRPr lang="en-US" sz="1700" dirty="0"/>
          </a:p>
        </p:txBody>
      </p:sp>
      <p:sp>
        <p:nvSpPr>
          <p:cNvPr id="7" name="texte-62"/>
          <p:cNvSpPr txBox="1"/>
          <p:nvPr/>
        </p:nvSpPr>
        <p:spPr>
          <a:xfrm>
            <a:off x="685800" y="3108960"/>
            <a:ext cx="13842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chemeClr val="tx1"/>
                </a:solidFill>
              </a:rPr>
              <a:t>Train / test 80/20 stratifié sur la cible</a:t>
            </a:r>
            <a:endParaRPr lang="en-US" sz="1450" dirty="0"/>
          </a:p>
        </p:txBody>
      </p:sp>
      <p:sp>
        <p:nvSpPr>
          <p:cNvPr id="8" name="fleche-63"/>
          <p:cNvSpPr/>
          <p:nvPr/>
        </p:nvSpPr>
        <p:spPr>
          <a:xfrm>
            <a:off x="2252929" y="2926080"/>
            <a:ext cx="137160" cy="274320"/>
          </a:xfrm>
          <a:prstGeom prst="chevron">
            <a:avLst/>
          </a:prstGeom>
          <a:solidFill>
            <a:srgbClr val="B7C7CA"/>
          </a:solidFill>
          <a:ln w="12700">
            <a:solidFill>
              <a:srgbClr val="B7C7CA"/>
            </a:solidFill>
            <a:prstDash val="solid"/>
          </a:ln>
        </p:spPr>
      </p:sp>
      <p:sp>
        <p:nvSpPr>
          <p:cNvPr id="9" name="carte-64"/>
          <p:cNvSpPr/>
          <p:nvPr/>
        </p:nvSpPr>
        <p:spPr>
          <a:xfrm>
            <a:off x="2435809" y="1463040"/>
            <a:ext cx="1658569" cy="3017520"/>
          </a:xfrm>
          <a:prstGeom prst="roundRect">
            <a:avLst>
              <a:gd name="adj" fmla="val 44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pastille-65"/>
          <p:cNvSpPr/>
          <p:nvPr/>
        </p:nvSpPr>
        <p:spPr>
          <a:xfrm>
            <a:off x="2922194" y="169164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-texte-66"/>
          <p:cNvSpPr txBox="1"/>
          <p:nvPr/>
        </p:nvSpPr>
        <p:spPr>
          <a:xfrm>
            <a:off x="2922194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e-67"/>
          <p:cNvSpPr txBox="1"/>
          <p:nvPr/>
        </p:nvSpPr>
        <p:spPr>
          <a:xfrm>
            <a:off x="2572969" y="256032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Exploration</a:t>
            </a:r>
            <a:endParaRPr lang="en-US" sz="1700" dirty="0"/>
          </a:p>
        </p:txBody>
      </p:sp>
      <p:sp>
        <p:nvSpPr>
          <p:cNvPr id="13" name="texte-68"/>
          <p:cNvSpPr txBox="1"/>
          <p:nvPr/>
        </p:nvSpPr>
        <p:spPr>
          <a:xfrm>
            <a:off x="2572969" y="3108960"/>
            <a:ext cx="13842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chemeClr val="tx1"/>
                </a:solidFill>
              </a:rPr>
              <a:t>Analyses uni et bivariées, tests Kruskal-Wallis et Chi²</a:t>
            </a:r>
            <a:endParaRPr lang="en-US" sz="1450" dirty="0"/>
          </a:p>
        </p:txBody>
      </p:sp>
      <p:sp>
        <p:nvSpPr>
          <p:cNvPr id="14" name="fleche-69"/>
          <p:cNvSpPr/>
          <p:nvPr/>
        </p:nvSpPr>
        <p:spPr>
          <a:xfrm>
            <a:off x="4140098" y="2926080"/>
            <a:ext cx="137160" cy="274320"/>
          </a:xfrm>
          <a:prstGeom prst="chevron">
            <a:avLst/>
          </a:prstGeom>
          <a:solidFill>
            <a:srgbClr val="B7C7CA"/>
          </a:solidFill>
          <a:ln w="12700">
            <a:solidFill>
              <a:srgbClr val="B7C7CA"/>
            </a:solidFill>
            <a:prstDash val="solid"/>
          </a:ln>
        </p:spPr>
      </p:sp>
      <p:sp>
        <p:nvSpPr>
          <p:cNvPr id="15" name="carte-70"/>
          <p:cNvSpPr/>
          <p:nvPr/>
        </p:nvSpPr>
        <p:spPr>
          <a:xfrm>
            <a:off x="4322978" y="1463040"/>
            <a:ext cx="1658569" cy="3017520"/>
          </a:xfrm>
          <a:prstGeom prst="roundRect">
            <a:avLst>
              <a:gd name="adj" fmla="val 44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pastille-71"/>
          <p:cNvSpPr/>
          <p:nvPr/>
        </p:nvSpPr>
        <p:spPr>
          <a:xfrm>
            <a:off x="4809363" y="16916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pastille-texte-72"/>
          <p:cNvSpPr txBox="1"/>
          <p:nvPr/>
        </p:nvSpPr>
        <p:spPr>
          <a:xfrm>
            <a:off x="4809363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e-73"/>
          <p:cNvSpPr txBox="1"/>
          <p:nvPr/>
        </p:nvSpPr>
        <p:spPr>
          <a:xfrm>
            <a:off x="4460138" y="256032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Preprocessing</a:t>
            </a:r>
            <a:endParaRPr lang="en-US" sz="1700" dirty="0"/>
          </a:p>
        </p:txBody>
      </p:sp>
      <p:sp>
        <p:nvSpPr>
          <p:cNvPr id="19" name="texte-74"/>
          <p:cNvSpPr txBox="1"/>
          <p:nvPr/>
        </p:nvSpPr>
        <p:spPr>
          <a:xfrm>
            <a:off x="4460138" y="3108960"/>
            <a:ext cx="13842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chemeClr val="tx1"/>
                </a:solidFill>
              </a:rPr>
              <a:t>Regroupements, discrétisation, imputation des manquants</a:t>
            </a:r>
            <a:endParaRPr lang="en-US" sz="1450" dirty="0"/>
          </a:p>
        </p:txBody>
      </p:sp>
      <p:sp>
        <p:nvSpPr>
          <p:cNvPr id="20" name="fleche-75"/>
          <p:cNvSpPr/>
          <p:nvPr/>
        </p:nvSpPr>
        <p:spPr>
          <a:xfrm>
            <a:off x="6027268" y="2926080"/>
            <a:ext cx="137160" cy="274320"/>
          </a:xfrm>
          <a:prstGeom prst="chevron">
            <a:avLst/>
          </a:prstGeom>
          <a:solidFill>
            <a:srgbClr val="B7C7CA"/>
          </a:solidFill>
          <a:ln w="12700">
            <a:solidFill>
              <a:srgbClr val="B7C7CA"/>
            </a:solidFill>
            <a:prstDash val="solid"/>
          </a:ln>
        </p:spPr>
      </p:sp>
      <p:sp>
        <p:nvSpPr>
          <p:cNvPr id="21" name="carte-76"/>
          <p:cNvSpPr/>
          <p:nvPr/>
        </p:nvSpPr>
        <p:spPr>
          <a:xfrm>
            <a:off x="6210148" y="1463040"/>
            <a:ext cx="1658569" cy="3017520"/>
          </a:xfrm>
          <a:prstGeom prst="roundRect">
            <a:avLst>
              <a:gd name="adj" fmla="val 44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pastille-77"/>
          <p:cNvSpPr/>
          <p:nvPr/>
        </p:nvSpPr>
        <p:spPr>
          <a:xfrm>
            <a:off x="6696532" y="16916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pastille-texte-78"/>
          <p:cNvSpPr txBox="1"/>
          <p:nvPr/>
        </p:nvSpPr>
        <p:spPr>
          <a:xfrm>
            <a:off x="6696532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e-79"/>
          <p:cNvSpPr txBox="1"/>
          <p:nvPr/>
        </p:nvSpPr>
        <p:spPr>
          <a:xfrm>
            <a:off x="6347308" y="256032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Benchmark</a:t>
            </a:r>
            <a:endParaRPr lang="en-US" sz="1700" dirty="0"/>
          </a:p>
        </p:txBody>
      </p:sp>
      <p:sp>
        <p:nvSpPr>
          <p:cNvPr id="25" name="texte-80"/>
          <p:cNvSpPr txBox="1"/>
          <p:nvPr/>
        </p:nvSpPr>
        <p:spPr>
          <a:xfrm>
            <a:off x="6347308" y="3108960"/>
            <a:ext cx="13842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chemeClr val="tx1"/>
                </a:solidFill>
              </a:rPr>
              <a:t>4 algorithmes comparés en validation croisée 5 folds</a:t>
            </a:r>
            <a:endParaRPr lang="en-US" sz="1450" dirty="0"/>
          </a:p>
        </p:txBody>
      </p:sp>
      <p:sp>
        <p:nvSpPr>
          <p:cNvPr id="26" name="fleche-81"/>
          <p:cNvSpPr/>
          <p:nvPr/>
        </p:nvSpPr>
        <p:spPr>
          <a:xfrm>
            <a:off x="7914437" y="2926080"/>
            <a:ext cx="137160" cy="274320"/>
          </a:xfrm>
          <a:prstGeom prst="chevron">
            <a:avLst/>
          </a:prstGeom>
          <a:solidFill>
            <a:srgbClr val="B7C7CA"/>
          </a:solidFill>
          <a:ln w="12700">
            <a:solidFill>
              <a:srgbClr val="B7C7CA"/>
            </a:solidFill>
            <a:prstDash val="solid"/>
          </a:ln>
        </p:spPr>
      </p:sp>
      <p:sp>
        <p:nvSpPr>
          <p:cNvPr id="27" name="carte-82"/>
          <p:cNvSpPr/>
          <p:nvPr/>
        </p:nvSpPr>
        <p:spPr>
          <a:xfrm>
            <a:off x="8097317" y="1463040"/>
            <a:ext cx="1658569" cy="3017520"/>
          </a:xfrm>
          <a:prstGeom prst="roundRect">
            <a:avLst>
              <a:gd name="adj" fmla="val 44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pastille-83"/>
          <p:cNvSpPr/>
          <p:nvPr/>
        </p:nvSpPr>
        <p:spPr>
          <a:xfrm>
            <a:off x="8583701" y="16916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pastille-texte-84"/>
          <p:cNvSpPr txBox="1"/>
          <p:nvPr/>
        </p:nvSpPr>
        <p:spPr>
          <a:xfrm>
            <a:off x="8583701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e-85"/>
          <p:cNvSpPr txBox="1"/>
          <p:nvPr/>
        </p:nvSpPr>
        <p:spPr>
          <a:xfrm>
            <a:off x="8234477" y="256032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Optimisation</a:t>
            </a:r>
            <a:endParaRPr lang="en-US" sz="1700" dirty="0"/>
          </a:p>
        </p:txBody>
      </p:sp>
      <p:sp>
        <p:nvSpPr>
          <p:cNvPr id="31" name="texte-86"/>
          <p:cNvSpPr txBox="1"/>
          <p:nvPr/>
        </p:nvSpPr>
        <p:spPr>
          <a:xfrm>
            <a:off x="8234477" y="3108960"/>
            <a:ext cx="13842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chemeClr val="tx1"/>
                </a:solidFill>
              </a:rPr>
              <a:t>Feature engineering, Optuna (100 essais), early stopping</a:t>
            </a:r>
            <a:endParaRPr lang="en-US" sz="1450" dirty="0"/>
          </a:p>
        </p:txBody>
      </p:sp>
      <p:sp>
        <p:nvSpPr>
          <p:cNvPr id="32" name="fleche-87"/>
          <p:cNvSpPr/>
          <p:nvPr/>
        </p:nvSpPr>
        <p:spPr>
          <a:xfrm>
            <a:off x="9801606" y="2926080"/>
            <a:ext cx="137160" cy="274320"/>
          </a:xfrm>
          <a:prstGeom prst="chevron">
            <a:avLst/>
          </a:prstGeom>
          <a:solidFill>
            <a:srgbClr val="B7C7CA"/>
          </a:solidFill>
          <a:ln w="12700">
            <a:solidFill>
              <a:srgbClr val="B7C7CA"/>
            </a:solidFill>
            <a:prstDash val="solid"/>
          </a:ln>
        </p:spPr>
      </p:sp>
      <p:sp>
        <p:nvSpPr>
          <p:cNvPr id="33" name="carte-88"/>
          <p:cNvSpPr/>
          <p:nvPr/>
        </p:nvSpPr>
        <p:spPr>
          <a:xfrm>
            <a:off x="9984486" y="1463040"/>
            <a:ext cx="1658569" cy="3017520"/>
          </a:xfrm>
          <a:prstGeom prst="roundRect">
            <a:avLst>
              <a:gd name="adj" fmla="val 44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4" name="pastille-89"/>
          <p:cNvSpPr/>
          <p:nvPr/>
        </p:nvSpPr>
        <p:spPr>
          <a:xfrm>
            <a:off x="10470871" y="169164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astille-texte-90"/>
          <p:cNvSpPr txBox="1"/>
          <p:nvPr/>
        </p:nvSpPr>
        <p:spPr>
          <a:xfrm>
            <a:off x="10470871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6" name="texte-91"/>
          <p:cNvSpPr txBox="1"/>
          <p:nvPr/>
        </p:nvSpPr>
        <p:spPr>
          <a:xfrm>
            <a:off x="10121646" y="256032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Évaluation</a:t>
            </a:r>
            <a:endParaRPr lang="en-US" sz="1700" dirty="0"/>
          </a:p>
        </p:txBody>
      </p:sp>
      <p:sp>
        <p:nvSpPr>
          <p:cNvPr id="37" name="texte-92"/>
          <p:cNvSpPr txBox="1"/>
          <p:nvPr/>
        </p:nvSpPr>
        <p:spPr>
          <a:xfrm>
            <a:off x="10121646" y="3108960"/>
            <a:ext cx="13842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chemeClr val="tx1"/>
                </a:solidFill>
              </a:rPr>
              <a:t>Score sur le test, matrice de confusion, SHAP</a:t>
            </a:r>
            <a:endParaRPr lang="en-US" sz="1450" dirty="0"/>
          </a:p>
        </p:txBody>
      </p:sp>
      <p:sp>
        <p:nvSpPr>
          <p:cNvPr id="38" name="carte-93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39" name="texte-94"/>
          <p:cNvSpPr txBox="1"/>
          <p:nvPr/>
        </p:nvSpPr>
        <p:spPr>
          <a:xfrm>
            <a:off x="868680" y="51206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Principe directeur : aucune fuite d'information. </a:t>
            </a:r>
            <a:r>
              <a:rPr lang="en-US" sz="1500" dirty="0">
                <a:solidFill>
                  <a:schemeClr val="tx1"/>
                </a:solidFill>
              </a:rPr>
              <a:t>Médianes, modes, regroupements et bornes de discrétisation sont appris sur le train puis appliqués tels quels au test, qui n'est utilisé qu'une seule fois, pour l'évaluation finale.</a:t>
            </a:r>
            <a:endParaRPr lang="en-US" sz="15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5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Analyse exploratoire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4023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Comprendre la cible, les variables et leurs liens avec la segmentation</a:t>
            </a:r>
            <a:endParaRPr lang="en-US" sz="1800" dirty="0"/>
          </a:p>
        </p:txBody>
      </p:sp>
      <p:sp>
        <p:nvSpPr>
          <p:cNvPr id="5" name="pastille-95"/>
          <p:cNvSpPr/>
          <p:nvPr/>
        </p:nvSpPr>
        <p:spPr>
          <a:xfrm>
            <a:off x="8595360" y="2240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tille-texte-96"/>
          <p:cNvSpPr txBox="1"/>
          <p:nvPr/>
        </p:nvSpPr>
        <p:spPr>
          <a:xfrm>
            <a:off x="859536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pastille-97"/>
          <p:cNvSpPr/>
          <p:nvPr/>
        </p:nvSpPr>
        <p:spPr>
          <a:xfrm>
            <a:off x="9372600" y="22402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astille-texte-98"/>
          <p:cNvSpPr txBox="1"/>
          <p:nvPr/>
        </p:nvSpPr>
        <p:spPr>
          <a:xfrm>
            <a:off x="937260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pastille-99"/>
          <p:cNvSpPr/>
          <p:nvPr/>
        </p:nvSpPr>
        <p:spPr>
          <a:xfrm>
            <a:off x="10149840" y="22402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astille-texte-100"/>
          <p:cNvSpPr txBox="1"/>
          <p:nvPr/>
        </p:nvSpPr>
        <p:spPr>
          <a:xfrm>
            <a:off x="1014984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1" name="pastille-101"/>
          <p:cNvSpPr/>
          <p:nvPr/>
        </p:nvSpPr>
        <p:spPr>
          <a:xfrm>
            <a:off x="10927080" y="22402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tille-texte-102"/>
          <p:cNvSpPr txBox="1"/>
          <p:nvPr/>
        </p:nvSpPr>
        <p:spPr>
          <a:xfrm>
            <a:off x="1092708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La cible est équilibrée : aucun rééquilibrage nécessaire</a:t>
            </a:r>
            <a:endParaRPr lang="en-US" sz="3000" dirty="0"/>
          </a:p>
        </p:txBody>
      </p:sp>
      <p:graphicFrame>
        <p:nvGraphicFramePr>
          <p:cNvPr id="3" name="graphique-cible"/>
          <p:cNvGraphicFramePr/>
          <p:nvPr/>
        </p:nvGraphicFramePr>
        <p:xfrm>
          <a:off x="548640" y="1280160"/>
          <a:ext cx="67665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te-103"/>
          <p:cNvSpPr/>
          <p:nvPr/>
        </p:nvSpPr>
        <p:spPr>
          <a:xfrm>
            <a:off x="7772400" y="1417320"/>
            <a:ext cx="387065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e-104"/>
          <p:cNvSpPr txBox="1"/>
          <p:nvPr/>
        </p:nvSpPr>
        <p:spPr>
          <a:xfrm>
            <a:off x="8001000" y="1581912"/>
            <a:ext cx="3413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23 % – 28 %</a:t>
            </a:r>
            <a:endParaRPr lang="en-US" sz="3400" dirty="0"/>
          </a:p>
        </p:txBody>
      </p:sp>
      <p:sp>
        <p:nvSpPr>
          <p:cNvPr id="6" name="texte-105"/>
          <p:cNvSpPr txBox="1"/>
          <p:nvPr/>
        </p:nvSpPr>
        <p:spPr>
          <a:xfrm>
            <a:off x="8001000" y="2286000"/>
            <a:ext cx="3413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part de chaque segment dans le train</a:t>
            </a:r>
            <a:endParaRPr lang="en-US" sz="1300" dirty="0"/>
          </a:p>
        </p:txBody>
      </p:sp>
      <p:sp>
        <p:nvSpPr>
          <p:cNvPr id="7" name="liste-106"/>
          <p:cNvSpPr txBox="1"/>
          <p:nvPr/>
        </p:nvSpPr>
        <p:spPr>
          <a:xfrm>
            <a:off x="7772400" y="3108960"/>
            <a:ext cx="38706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Les quatre segments sont représentés de façon </a:t>
            </a:r>
            <a:r>
              <a:rPr lang="en-US" sz="1500" b="1" dirty="0">
                <a:solidFill>
                  <a:schemeClr val="tx1"/>
                </a:solidFill>
              </a:rPr>
              <a:t>homogène</a:t>
            </a:r>
            <a:r>
              <a:rPr lang="en-US" sz="1500" dirty="0">
                <a:solidFill>
                  <a:schemeClr val="tx1"/>
                </a:solidFill>
              </a:rPr>
              <a:t>, le segment D étant légèrement majoritaire (28,1 %).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Pas de déséquilibre de classes</a:t>
            </a:r>
            <a:r>
              <a:rPr lang="en-US" sz="1500" dirty="0">
                <a:solidFill>
                  <a:schemeClr val="tx1"/>
                </a:solidFill>
              </a:rPr>
              <a:t> : ni sur-échantillonnage ni sous-échantillonnage.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split stratifié conserve exactement ces proportions dans le jeu de test.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Variables numériques : âge complet, expérience très asymétrique</a:t>
            </a:r>
            <a:endParaRPr lang="en-US" sz="3000" dirty="0"/>
          </a:p>
        </p:txBody>
      </p:sp>
      <p:pic>
        <p:nvPicPr>
          <p:cNvPr id="3" name="graphique-num_univ-107" descr="C:\Users\feuss\AppData\Local\Temp\claude\f--personnel-RECHERCHE-CDI-JAKALA-Projet-projet-JAKALA\15f43615-3883-45dd-bbfc-225afa16c6c9\scratchpad\img\num_un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129" y="1188720"/>
            <a:ext cx="9215438" cy="3931920"/>
          </a:xfrm>
          <a:prstGeom prst="rect">
            <a:avLst/>
          </a:prstGeom>
        </p:spPr>
      </p:pic>
      <p:sp>
        <p:nvSpPr>
          <p:cNvPr id="4" name="carte-108"/>
          <p:cNvSpPr/>
          <p:nvPr/>
        </p:nvSpPr>
        <p:spPr>
          <a:xfrm>
            <a:off x="548640" y="5212080"/>
            <a:ext cx="3515258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e-109"/>
          <p:cNvSpPr txBox="1"/>
          <p:nvPr/>
        </p:nvSpPr>
        <p:spPr>
          <a:xfrm>
            <a:off x="731520" y="5285232"/>
            <a:ext cx="31494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Age : </a:t>
            </a:r>
            <a:r>
              <a:rPr lang="en-US" sz="1350" dirty="0">
                <a:solidFill>
                  <a:schemeClr val="tx1"/>
                </a:solidFill>
              </a:rPr>
              <a:t>18 à 89 ans, médiane de 41 ans, asymétrie à droite. Aucune valeur manquante.</a:t>
            </a:r>
            <a:endParaRPr lang="en-US" sz="1350" dirty="0"/>
          </a:p>
        </p:txBody>
      </p:sp>
      <p:sp>
        <p:nvSpPr>
          <p:cNvPr id="6" name="carte-110"/>
          <p:cNvSpPr/>
          <p:nvPr/>
        </p:nvSpPr>
        <p:spPr>
          <a:xfrm>
            <a:off x="4338218" y="5212080"/>
            <a:ext cx="3515258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e-111"/>
          <p:cNvSpPr txBox="1"/>
          <p:nvPr/>
        </p:nvSpPr>
        <p:spPr>
          <a:xfrm>
            <a:off x="4521098" y="5285232"/>
            <a:ext cx="31494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Work_Experience : </a:t>
            </a:r>
            <a:r>
              <a:rPr lang="en-US" sz="1350" dirty="0">
                <a:solidFill>
                  <a:schemeClr val="tx1"/>
                </a:solidFill>
              </a:rPr>
              <a:t>Pic sur 0–1 an (médiane = 1), second pic vers 8–9 ans. ≈ 10 % de manquants.</a:t>
            </a:r>
            <a:endParaRPr lang="en-US" sz="1350" dirty="0"/>
          </a:p>
        </p:txBody>
      </p:sp>
      <p:sp>
        <p:nvSpPr>
          <p:cNvPr id="8" name="carte-112"/>
          <p:cNvSpPr/>
          <p:nvPr/>
        </p:nvSpPr>
        <p:spPr>
          <a:xfrm>
            <a:off x="8127797" y="5212080"/>
            <a:ext cx="3515258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e-113"/>
          <p:cNvSpPr txBox="1"/>
          <p:nvPr/>
        </p:nvSpPr>
        <p:spPr>
          <a:xfrm>
            <a:off x="8310677" y="5285232"/>
            <a:ext cx="31494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Family_Size : </a:t>
            </a:r>
            <a:r>
              <a:rPr lang="en-US" sz="1350" dirty="0">
                <a:solidFill>
                  <a:schemeClr val="tx1"/>
                </a:solidFill>
              </a:rPr>
              <a:t>1 à 9 personnes, médiane de 3 ; valeurs hautes atypiques mais plausibles. ≈ 4 % de manquants.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Variables catégorielles : des modalités dominantes</a:t>
            </a:r>
            <a:endParaRPr lang="en-US" sz="3000" dirty="0"/>
          </a:p>
        </p:txBody>
      </p:sp>
      <p:sp>
        <p:nvSpPr>
          <p:cNvPr id="3" name="carte-114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e-115"/>
          <p:cNvSpPr txBox="1"/>
          <p:nvPr/>
        </p:nvSpPr>
        <p:spPr>
          <a:xfrm>
            <a:off x="822960" y="15087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E6E73"/>
                </a:solidFill>
              </a:rPr>
              <a:t>Gender</a:t>
            </a:r>
            <a:endParaRPr lang="en-US" sz="1300" dirty="0"/>
          </a:p>
        </p:txBody>
      </p:sp>
      <p:sp>
        <p:nvSpPr>
          <p:cNvPr id="5" name="texte-116"/>
          <p:cNvSpPr txBox="1"/>
          <p:nvPr/>
        </p:nvSpPr>
        <p:spPr>
          <a:xfrm>
            <a:off x="822960" y="18745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54 %</a:t>
            </a:r>
            <a:endParaRPr lang="en-US" sz="4400" dirty="0"/>
          </a:p>
        </p:txBody>
      </p:sp>
      <p:sp>
        <p:nvSpPr>
          <p:cNvPr id="6" name="texte-117"/>
          <p:cNvSpPr txBox="1"/>
          <p:nvPr/>
        </p:nvSpPr>
        <p:spPr>
          <a:xfrm>
            <a:off x="822960" y="2743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d'hommes</a:t>
            </a:r>
            <a:endParaRPr lang="en-US" sz="1500" dirty="0"/>
          </a:p>
        </p:txBody>
      </p:sp>
      <p:sp>
        <p:nvSpPr>
          <p:cNvPr id="7" name="carte-118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e-119"/>
          <p:cNvSpPr txBox="1"/>
          <p:nvPr/>
        </p:nvSpPr>
        <p:spPr>
          <a:xfrm>
            <a:off x="4612538" y="15087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E6E73"/>
                </a:solidFill>
              </a:rPr>
              <a:t>Ever_Married</a:t>
            </a:r>
            <a:endParaRPr lang="en-US" sz="1300" dirty="0"/>
          </a:p>
        </p:txBody>
      </p:sp>
      <p:sp>
        <p:nvSpPr>
          <p:cNvPr id="9" name="texte-120"/>
          <p:cNvSpPr txBox="1"/>
          <p:nvPr/>
        </p:nvSpPr>
        <p:spPr>
          <a:xfrm>
            <a:off x="4612538" y="18745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59 %</a:t>
            </a:r>
            <a:endParaRPr lang="en-US" sz="4400" dirty="0"/>
          </a:p>
        </p:txBody>
      </p:sp>
      <p:sp>
        <p:nvSpPr>
          <p:cNvPr id="10" name="texte-121"/>
          <p:cNvSpPr txBox="1"/>
          <p:nvPr/>
        </p:nvSpPr>
        <p:spPr>
          <a:xfrm>
            <a:off x="4612538" y="2743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 clients mariés</a:t>
            </a:r>
            <a:endParaRPr lang="en-US" sz="1500" dirty="0"/>
          </a:p>
        </p:txBody>
      </p:sp>
      <p:sp>
        <p:nvSpPr>
          <p:cNvPr id="11" name="carte-122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e-123"/>
          <p:cNvSpPr txBox="1"/>
          <p:nvPr/>
        </p:nvSpPr>
        <p:spPr>
          <a:xfrm>
            <a:off x="8402117" y="15087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E6E73"/>
                </a:solidFill>
              </a:rPr>
              <a:t>Graduated</a:t>
            </a:r>
            <a:endParaRPr lang="en-US" sz="1300" dirty="0"/>
          </a:p>
        </p:txBody>
      </p:sp>
      <p:sp>
        <p:nvSpPr>
          <p:cNvPr id="13" name="texte-124"/>
          <p:cNvSpPr txBox="1"/>
          <p:nvPr/>
        </p:nvSpPr>
        <p:spPr>
          <a:xfrm>
            <a:off x="8402117" y="18745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63 %</a:t>
            </a:r>
            <a:endParaRPr lang="en-US" sz="4400" dirty="0"/>
          </a:p>
        </p:txBody>
      </p:sp>
      <p:sp>
        <p:nvSpPr>
          <p:cNvPr id="14" name="texte-125"/>
          <p:cNvSpPr txBox="1"/>
          <p:nvPr/>
        </p:nvSpPr>
        <p:spPr>
          <a:xfrm>
            <a:off x="8402117" y="2743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 clients diplômés</a:t>
            </a:r>
            <a:endParaRPr lang="en-US" sz="1500" dirty="0"/>
          </a:p>
        </p:txBody>
      </p:sp>
      <p:sp>
        <p:nvSpPr>
          <p:cNvPr id="15" name="carte-126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e-127"/>
          <p:cNvSpPr txBox="1"/>
          <p:nvPr/>
        </p:nvSpPr>
        <p:spPr>
          <a:xfrm>
            <a:off x="822960" y="40690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E6E73"/>
                </a:solidFill>
              </a:rPr>
              <a:t>Profession</a:t>
            </a:r>
            <a:endParaRPr lang="en-US" sz="1300" dirty="0"/>
          </a:p>
        </p:txBody>
      </p:sp>
      <p:sp>
        <p:nvSpPr>
          <p:cNvPr id="17" name="texte-128"/>
          <p:cNvSpPr txBox="1"/>
          <p:nvPr/>
        </p:nvSpPr>
        <p:spPr>
          <a:xfrm>
            <a:off x="822960" y="443484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32 %</a:t>
            </a:r>
            <a:endParaRPr lang="en-US" sz="4400" dirty="0"/>
          </a:p>
        </p:txBody>
      </p:sp>
      <p:sp>
        <p:nvSpPr>
          <p:cNvPr id="18" name="texte-129"/>
          <p:cNvSpPr txBox="1"/>
          <p:nvPr/>
        </p:nvSpPr>
        <p:spPr>
          <a:xfrm>
            <a:off x="822960" y="53035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d'artistes, 1re profession sur 9</a:t>
            </a:r>
            <a:endParaRPr lang="en-US" sz="1500" dirty="0"/>
          </a:p>
        </p:txBody>
      </p:sp>
      <p:sp>
        <p:nvSpPr>
          <p:cNvPr id="19" name="carte-130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e-131"/>
          <p:cNvSpPr txBox="1"/>
          <p:nvPr/>
        </p:nvSpPr>
        <p:spPr>
          <a:xfrm>
            <a:off x="4612538" y="40690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E6E73"/>
                </a:solidFill>
              </a:rPr>
              <a:t>Spending_Score</a:t>
            </a:r>
            <a:endParaRPr lang="en-US" sz="1300" dirty="0"/>
          </a:p>
        </p:txBody>
      </p:sp>
      <p:sp>
        <p:nvSpPr>
          <p:cNvPr id="21" name="texte-132"/>
          <p:cNvSpPr txBox="1"/>
          <p:nvPr/>
        </p:nvSpPr>
        <p:spPr>
          <a:xfrm>
            <a:off x="4612538" y="443484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60 %</a:t>
            </a:r>
            <a:endParaRPr lang="en-US" sz="4400" dirty="0"/>
          </a:p>
        </p:txBody>
      </p:sp>
      <p:sp>
        <p:nvSpPr>
          <p:cNvPr id="22" name="texte-133"/>
          <p:cNvSpPr txBox="1"/>
          <p:nvPr/>
        </p:nvSpPr>
        <p:spPr>
          <a:xfrm>
            <a:off x="4612538" y="53035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 scores de dépenses « Low » (variable ordinale : Low &lt; Average &lt; High)</a:t>
            </a:r>
            <a:endParaRPr lang="en-US" sz="1500" dirty="0"/>
          </a:p>
        </p:txBody>
      </p:sp>
      <p:sp>
        <p:nvSpPr>
          <p:cNvPr id="23" name="carte-134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e-135"/>
          <p:cNvSpPr txBox="1"/>
          <p:nvPr/>
        </p:nvSpPr>
        <p:spPr>
          <a:xfrm>
            <a:off x="8402117" y="40690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E6E73"/>
                </a:solidFill>
              </a:rPr>
              <a:t>Var_1</a:t>
            </a:r>
            <a:endParaRPr lang="en-US" sz="1300" dirty="0"/>
          </a:p>
        </p:txBody>
      </p:sp>
      <p:sp>
        <p:nvSpPr>
          <p:cNvPr id="25" name="texte-136"/>
          <p:cNvSpPr txBox="1"/>
          <p:nvPr/>
        </p:nvSpPr>
        <p:spPr>
          <a:xfrm>
            <a:off x="8402117" y="443484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66 %</a:t>
            </a:r>
            <a:endParaRPr lang="en-US" sz="4400" dirty="0"/>
          </a:p>
        </p:txBody>
      </p:sp>
      <p:sp>
        <p:nvSpPr>
          <p:cNvPr id="26" name="texte-137"/>
          <p:cNvSpPr txBox="1"/>
          <p:nvPr/>
        </p:nvSpPr>
        <p:spPr>
          <a:xfrm>
            <a:off x="8402117" y="53035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des clients dans la catégorie Cat_6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Regroupement des modalités rares : Profession et Var_1</a:t>
            </a:r>
            <a:endParaRPr lang="en-US" sz="3000" dirty="0"/>
          </a:p>
        </p:txBody>
      </p:sp>
      <p:graphicFrame>
        <p:nvGraphicFramePr>
          <p:cNvPr id="3" name="graphique-regroupement-138"/>
          <p:cNvGraphicFramePr/>
          <p:nvPr/>
        </p:nvGraphicFramePr>
        <p:xfrm>
          <a:off x="548640" y="1234440"/>
          <a:ext cx="53643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graphique-regroupement-139"/>
          <p:cNvGraphicFramePr/>
          <p:nvPr/>
        </p:nvGraphicFramePr>
        <p:xfrm>
          <a:off x="6278728" y="1234440"/>
          <a:ext cx="53643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legende-140"/>
          <p:cNvSpPr/>
          <p:nvPr/>
        </p:nvSpPr>
        <p:spPr>
          <a:xfrm>
            <a:off x="3474720" y="4754880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e-141"/>
          <p:cNvSpPr txBox="1"/>
          <p:nvPr/>
        </p:nvSpPr>
        <p:spPr>
          <a:xfrm>
            <a:off x="3767328" y="47000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Modalité conservée</a:t>
            </a:r>
            <a:endParaRPr lang="en-US" sz="1300" dirty="0"/>
          </a:p>
        </p:txBody>
      </p:sp>
      <p:sp>
        <p:nvSpPr>
          <p:cNvPr id="7" name="legende-142"/>
          <p:cNvSpPr/>
          <p:nvPr/>
        </p:nvSpPr>
        <p:spPr>
          <a:xfrm>
            <a:off x="6400800" y="4754880"/>
            <a:ext cx="201168" cy="201168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8" name="texte-143"/>
          <p:cNvSpPr txBox="1"/>
          <p:nvPr/>
        </p:nvSpPr>
        <p:spPr>
          <a:xfrm>
            <a:off x="6693408" y="47000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Regroupée en « Other »</a:t>
            </a:r>
            <a:endParaRPr lang="en-US" sz="1300" dirty="0"/>
          </a:p>
        </p:txBody>
      </p:sp>
      <p:sp>
        <p:nvSpPr>
          <p:cNvPr id="9" name="carte-144"/>
          <p:cNvSpPr/>
          <p:nvPr/>
        </p:nvSpPr>
        <p:spPr>
          <a:xfrm>
            <a:off x="548640" y="5120640"/>
            <a:ext cx="536432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e-145"/>
          <p:cNvSpPr txBox="1"/>
          <p:nvPr/>
        </p:nvSpPr>
        <p:spPr>
          <a:xfrm>
            <a:off x="777240" y="5166360"/>
            <a:ext cx="490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Profession : </a:t>
            </a:r>
            <a:r>
              <a:rPr lang="en-US" sz="1300" dirty="0">
                <a:solidFill>
                  <a:schemeClr val="tx1"/>
                </a:solidFill>
              </a:rPr>
              <a:t>Marketing (3,6 %) et Homemaker (3,1 %) → Other. Les autres sont gardées : leurs profils de segments diffèrent trop (Healthcare ≈ 72 % en D, Artist ≈ 42 % en C) pour être fusionnées.</a:t>
            </a:r>
            <a:endParaRPr lang="en-US" sz="1300" dirty="0"/>
          </a:p>
        </p:txBody>
      </p:sp>
      <p:sp>
        <p:nvSpPr>
          <p:cNvPr id="11" name="carte-146"/>
          <p:cNvSpPr/>
          <p:nvPr/>
        </p:nvSpPr>
        <p:spPr>
          <a:xfrm>
            <a:off x="6278728" y="5120640"/>
            <a:ext cx="536432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e-147"/>
          <p:cNvSpPr txBox="1"/>
          <p:nvPr/>
        </p:nvSpPr>
        <p:spPr>
          <a:xfrm>
            <a:off x="6507328" y="5166360"/>
            <a:ext cx="490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Var_1 : </a:t>
            </a:r>
            <a:r>
              <a:rPr lang="en-US" sz="1300" dirty="0">
                <a:solidFill>
                  <a:schemeClr val="tx1"/>
                </a:solidFill>
              </a:rPr>
              <a:t>Cat_2 (5,3 %), Cat_7 (2,5 %), Cat_1 (1,8 %) et Cat_5 (1,0 %) → Other. Cat_6 (65,7 %), Cat_4 et Cat_3 sont conservées.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L'âge est de loin la variable numérique la plus discriminante</a:t>
            </a:r>
            <a:endParaRPr lang="en-US" sz="3000" dirty="0"/>
          </a:p>
        </p:txBody>
      </p:sp>
      <p:pic>
        <p:nvPicPr>
          <p:cNvPr id="3" name="graphique-cell26_11-148" descr="C:\Users\feuss\AppData\Local\Temp\claude\f--personnel-RECHERCHE-CDI-JAKALA-Projet-projet-JAKALA\15f43615-3883-45dd-bbfc-225afa16c6c9\scratchpad\img\cell26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248" y="1188720"/>
            <a:ext cx="8077200" cy="2514600"/>
          </a:xfrm>
          <a:prstGeom prst="rect">
            <a:avLst/>
          </a:prstGeom>
        </p:spPr>
      </p:pic>
      <p:sp>
        <p:nvSpPr>
          <p:cNvPr id="4" name="texte-149"/>
          <p:cNvSpPr txBox="1"/>
          <p:nvPr/>
        </p:nvSpPr>
        <p:spPr>
          <a:xfrm>
            <a:off x="548640" y="3749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E73"/>
                </a:solidFill>
              </a:rPr>
              <a:t>Boxplots des variables numériques par segment (A bleu, B orange, C vert, D rose)</a:t>
            </a:r>
            <a:endParaRPr lang="en-US" sz="1100" dirty="0"/>
          </a:p>
        </p:txBody>
      </p:sp>
      <p:graphicFrame>
        <p:nvGraphicFramePr>
          <p:cNvPr id="5" name="graphique-kruskal"/>
          <p:cNvGraphicFramePr/>
          <p:nvPr/>
        </p:nvGraphicFramePr>
        <p:xfrm>
          <a:off x="548640" y="4069080"/>
          <a:ext cx="51206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liste-150"/>
          <p:cNvSpPr txBox="1"/>
          <p:nvPr/>
        </p:nvSpPr>
        <p:spPr>
          <a:xfrm>
            <a:off x="6035040" y="4160520"/>
            <a:ext cx="5608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Age</a:t>
            </a:r>
            <a:r>
              <a:rPr lang="en-US" sz="1400" dirty="0">
                <a:solidFill>
                  <a:schemeClr val="tx1"/>
                </a:solidFill>
              </a:rPr>
              <a:t> : le segment D regroupe les plus jeunes (médiane ≈ 29 ans), B et C les plus âgés (≈ 46 et 49 ans).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Family_Size</a:t>
            </a:r>
            <a:r>
              <a:rPr lang="en-US" sz="1400" dirty="0">
                <a:solidFill>
                  <a:schemeClr val="tx1"/>
                </a:solidFill>
              </a:rPr>
              <a:t> : le segment A a des familles plus petites (médiane 2, contre 3 pour C et D).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Work_Experience</a:t>
            </a:r>
            <a:r>
              <a:rPr lang="en-US" sz="1400" dirty="0">
                <a:solidFill>
                  <a:schemeClr val="tx1"/>
                </a:solidFill>
              </a:rPr>
              <a:t> : médianes identiques (1 an), effet faible.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trois effets sont significatifs, mais d'intensité très différente.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Chaque segment a son « âge typique »</a:t>
            </a:r>
            <a:endParaRPr lang="en-US" sz="3000" dirty="0"/>
          </a:p>
        </p:txBody>
      </p:sp>
      <p:pic>
        <p:nvPicPr>
          <p:cNvPr id="3" name="graphique-cell29_12-151" descr="C:\Users\feuss\AppData\Local\Temp\claude\f--personnel-RECHERCHE-CDI-JAKALA-Projet-projet-JAKALA\15f43615-3883-45dd-bbfc-225afa16c6c9\scratchpad\img\cell29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24" y="1188720"/>
            <a:ext cx="10720647" cy="3337560"/>
          </a:xfrm>
          <a:prstGeom prst="rect">
            <a:avLst/>
          </a:prstGeom>
        </p:spPr>
      </p:pic>
      <p:sp>
        <p:nvSpPr>
          <p:cNvPr id="4" name="pastille-152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pastille-texte-153"/>
          <p:cNvSpPr txBox="1"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</a:t>
            </a:r>
            <a:endParaRPr lang="en-US" sz="1500" dirty="0"/>
          </a:p>
        </p:txBody>
      </p:sp>
      <p:sp>
        <p:nvSpPr>
          <p:cNvPr id="6" name="texte-154"/>
          <p:cNvSpPr txBox="1"/>
          <p:nvPr/>
        </p:nvSpPr>
        <p:spPr>
          <a:xfrm>
            <a:off x="1234440" y="470916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Pic d'âge vers 25 ans : le segment des jeunes clients.</a:t>
            </a:r>
            <a:endParaRPr lang="en-US" sz="1450" dirty="0"/>
          </a:p>
        </p:txBody>
      </p:sp>
      <p:sp>
        <p:nvSpPr>
          <p:cNvPr id="7" name="pastille-155"/>
          <p:cNvSpPr/>
          <p:nvPr/>
        </p:nvSpPr>
        <p:spPr>
          <a:xfrm>
            <a:off x="6233008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astille-texte-156"/>
          <p:cNvSpPr txBox="1"/>
          <p:nvPr/>
        </p:nvSpPr>
        <p:spPr>
          <a:xfrm>
            <a:off x="6233008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e-157"/>
          <p:cNvSpPr txBox="1"/>
          <p:nvPr/>
        </p:nvSpPr>
        <p:spPr>
          <a:xfrm>
            <a:off x="6918808" y="470916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Pic vers 40 ans, davantage de personnes seules (pic de Family_Size à 1).</a:t>
            </a:r>
            <a:endParaRPr lang="en-US" sz="1450" dirty="0"/>
          </a:p>
        </p:txBody>
      </p:sp>
      <p:sp>
        <p:nvSpPr>
          <p:cNvPr id="10" name="pastille-158"/>
          <p:cNvSpPr/>
          <p:nvPr/>
        </p:nvSpPr>
        <p:spPr>
          <a:xfrm>
            <a:off x="548640" y="545896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astille-texte-159"/>
          <p:cNvSpPr txBox="1"/>
          <p:nvPr/>
        </p:nvSpPr>
        <p:spPr>
          <a:xfrm>
            <a:off x="54864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12" name="texte-160"/>
          <p:cNvSpPr txBox="1"/>
          <p:nvPr/>
        </p:nvSpPr>
        <p:spPr>
          <a:xfrm>
            <a:off x="1234440" y="5458968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Pic vers 50 ans : les clients les plus âgés, avec B.</a:t>
            </a:r>
            <a:endParaRPr lang="en-US" sz="1450" dirty="0"/>
          </a:p>
        </p:txBody>
      </p:sp>
      <p:sp>
        <p:nvSpPr>
          <p:cNvPr id="13" name="pastille-161"/>
          <p:cNvSpPr/>
          <p:nvPr/>
        </p:nvSpPr>
        <p:spPr>
          <a:xfrm>
            <a:off x="6233008" y="5458968"/>
            <a:ext cx="502920" cy="502920"/>
          </a:xfrm>
          <a:prstGeom prst="ellipse">
            <a:avLst/>
          </a:prstGeom>
          <a:solidFill>
            <a:srgbClr val="8A9A9E"/>
          </a:solidFill>
          <a:ln w="12700">
            <a:solidFill>
              <a:srgbClr val="8A9A9E"/>
            </a:solidFill>
            <a:prstDash val="solid"/>
          </a:ln>
        </p:spPr>
      </p:sp>
      <p:sp>
        <p:nvSpPr>
          <p:cNvPr id="14" name="pastille-texte-162"/>
          <p:cNvSpPr txBox="1"/>
          <p:nvPr/>
        </p:nvSpPr>
        <p:spPr>
          <a:xfrm>
            <a:off x="6233008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≈</a:t>
            </a:r>
            <a:endParaRPr lang="en-US" sz="1500" dirty="0"/>
          </a:p>
        </p:txBody>
      </p:sp>
      <p:sp>
        <p:nvSpPr>
          <p:cNvPr id="15" name="texte-163"/>
          <p:cNvSpPr txBox="1"/>
          <p:nvPr/>
        </p:nvSpPr>
        <p:spPr>
          <a:xfrm>
            <a:off x="6918808" y="5458968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Work_Experience : courbes quasi superposées, variable peu discriminante.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Statut marital, diplôme et profession séparent les segments</a:t>
            </a:r>
            <a:endParaRPr lang="en-US" sz="3000" dirty="0"/>
          </a:p>
        </p:txBody>
      </p:sp>
      <p:graphicFrame>
        <p:nvGraphicFramePr>
          <p:cNvPr id="3" name="graphique-bivarie-Gender-164"/>
          <p:cNvGraphicFramePr/>
          <p:nvPr/>
        </p:nvGraphicFramePr>
        <p:xfrm>
          <a:off x="548640" y="1188720"/>
          <a:ext cx="24231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graphique-bivarie-Ever_Married-165"/>
          <p:cNvGraphicFramePr/>
          <p:nvPr/>
        </p:nvGraphicFramePr>
        <p:xfrm>
          <a:off x="3063240" y="1188720"/>
          <a:ext cx="24231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graphique-bivarie-Graduated-166"/>
          <p:cNvGraphicFramePr/>
          <p:nvPr/>
        </p:nvGraphicFramePr>
        <p:xfrm>
          <a:off x="5577840" y="1188720"/>
          <a:ext cx="24231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graphique-bivarie-Profession_group-167"/>
          <p:cNvGraphicFramePr/>
          <p:nvPr/>
        </p:nvGraphicFramePr>
        <p:xfrm>
          <a:off x="548640" y="3657600"/>
          <a:ext cx="74523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pastille-168"/>
          <p:cNvSpPr/>
          <p:nvPr/>
        </p:nvSpPr>
        <p:spPr>
          <a:xfrm>
            <a:off x="8321040" y="1280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astille-texte-169"/>
          <p:cNvSpPr txBox="1"/>
          <p:nvPr/>
        </p:nvSpPr>
        <p:spPr>
          <a:xfrm>
            <a:off x="83210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9" name="pastille-170"/>
          <p:cNvSpPr/>
          <p:nvPr/>
        </p:nvSpPr>
        <p:spPr>
          <a:xfrm>
            <a:off x="8869680" y="1280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pastille-texte-171"/>
          <p:cNvSpPr txBox="1"/>
          <p:nvPr/>
        </p:nvSpPr>
        <p:spPr>
          <a:xfrm>
            <a:off x="88696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11" name="pastille-172"/>
          <p:cNvSpPr/>
          <p:nvPr/>
        </p:nvSpPr>
        <p:spPr>
          <a:xfrm>
            <a:off x="9418320" y="12801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pastille-texte-173"/>
          <p:cNvSpPr txBox="1"/>
          <p:nvPr/>
        </p:nvSpPr>
        <p:spPr>
          <a:xfrm>
            <a:off x="9418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13" name="pastille-174"/>
          <p:cNvSpPr/>
          <p:nvPr/>
        </p:nvSpPr>
        <p:spPr>
          <a:xfrm>
            <a:off x="9966960" y="12801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astille-texte-175"/>
          <p:cNvSpPr txBox="1"/>
          <p:nvPr/>
        </p:nvSpPr>
        <p:spPr>
          <a:xfrm>
            <a:off x="99669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15" name="texte-176"/>
          <p:cNvSpPr txBox="1"/>
          <p:nvPr/>
        </p:nvSpPr>
        <p:spPr>
          <a:xfrm>
            <a:off x="8321040" y="173736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E6E73"/>
                </a:solidFill>
              </a:rPr>
              <a:t>Répartition des segments dans chaque modalité (train)</a:t>
            </a:r>
            <a:endParaRPr lang="en-US" sz="1150" dirty="0"/>
          </a:p>
        </p:txBody>
      </p:sp>
      <p:sp>
        <p:nvSpPr>
          <p:cNvPr id="16" name="liste-177"/>
          <p:cNvSpPr txBox="1"/>
          <p:nvPr/>
        </p:nvSpPr>
        <p:spPr>
          <a:xfrm>
            <a:off x="8321040" y="2286000"/>
            <a:ext cx="33220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Gender</a:t>
            </a:r>
            <a:r>
              <a:rPr lang="en-US" sz="1350" dirty="0">
                <a:solidFill>
                  <a:schemeClr val="tx1"/>
                </a:solidFill>
              </a:rPr>
              <a:t> : répartition quasi identique entre femmes et hommes, variable peu informative.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Ever_Married</a:t>
            </a:r>
            <a:r>
              <a:rPr lang="en-US" sz="1350" dirty="0">
                <a:solidFill>
                  <a:schemeClr val="tx1"/>
                </a:solidFill>
              </a:rPr>
              <a:t> : non mariés ≈ 49 % en D ; mariés surtout en B et C.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Graduated</a:t>
            </a:r>
            <a:r>
              <a:rPr lang="en-US" sz="1350" dirty="0">
                <a:solidFill>
                  <a:schemeClr val="tx1"/>
                </a:solidFill>
              </a:rPr>
              <a:t> : même schéma, non diplômés ≈ 47 % en D.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Profession</a:t>
            </a:r>
            <a:r>
              <a:rPr lang="en-US" sz="1350" dirty="0">
                <a:solidFill>
                  <a:schemeClr val="tx1"/>
                </a:solidFill>
              </a:rPr>
              <a:t> : Healthcare ≈ 72 % en D, Artist ≈ 42 % en C, Engineer et Entertainment plutôt en A.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Spending_Score</a:t>
            </a:r>
            <a:r>
              <a:rPr lang="en-US" sz="1350" dirty="0">
                <a:solidFill>
                  <a:schemeClr val="tx1"/>
                </a:solidFill>
              </a:rPr>
              <a:t> : « Low » associé à D (≈ 40 %), « Average » à C (≈ 46 %).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Chi² : quatre variables fortement liées, le genre ne l'est pas</a:t>
            </a:r>
            <a:endParaRPr lang="en-US" sz="3000" dirty="0"/>
          </a:p>
        </p:txBody>
      </p:sp>
      <p:graphicFrame>
        <p:nvGraphicFramePr>
          <p:cNvPr id="3" name="graphique-cramer"/>
          <p:cNvGraphicFramePr/>
          <p:nvPr/>
        </p:nvGraphicFramePr>
        <p:xfrm>
          <a:off x="548640" y="1280160"/>
          <a:ext cx="676656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te-178"/>
          <p:cNvSpPr/>
          <p:nvPr/>
        </p:nvSpPr>
        <p:spPr>
          <a:xfrm>
            <a:off x="7772400" y="1463040"/>
            <a:ext cx="387065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legende-179"/>
          <p:cNvSpPr/>
          <p:nvPr/>
        </p:nvSpPr>
        <p:spPr>
          <a:xfrm>
            <a:off x="8001000" y="173736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e-180"/>
          <p:cNvSpPr txBox="1"/>
          <p:nvPr/>
        </p:nvSpPr>
        <p:spPr>
          <a:xfrm>
            <a:off x="8458200" y="1664208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Liaison forte (V ≥ 0,3)</a:t>
            </a:r>
            <a:endParaRPr lang="en-US" sz="1600" dirty="0"/>
          </a:p>
        </p:txBody>
      </p:sp>
      <p:sp>
        <p:nvSpPr>
          <p:cNvPr id="7" name="texte-181"/>
          <p:cNvSpPr txBox="1"/>
          <p:nvPr/>
        </p:nvSpPr>
        <p:spPr>
          <a:xfrm>
            <a:off x="8458200" y="2103120"/>
            <a:ext cx="3001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Ever_Married, Graduated, Profession_group et Spending_Score.</a:t>
            </a:r>
            <a:endParaRPr lang="en-US" sz="1350" dirty="0"/>
          </a:p>
        </p:txBody>
      </p:sp>
      <p:sp>
        <p:nvSpPr>
          <p:cNvPr id="8" name="carte-182"/>
          <p:cNvSpPr/>
          <p:nvPr/>
        </p:nvSpPr>
        <p:spPr>
          <a:xfrm>
            <a:off x="7772400" y="2926080"/>
            <a:ext cx="387065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legende-183"/>
          <p:cNvSpPr/>
          <p:nvPr/>
        </p:nvSpPr>
        <p:spPr>
          <a:xfrm>
            <a:off x="8001000" y="3200400"/>
            <a:ext cx="292608" cy="292608"/>
          </a:xfrm>
          <a:prstGeom prst="ellipse">
            <a:avLst/>
          </a:prstGeom>
          <a:solidFill>
            <a:srgbClr val="9FCFC8"/>
          </a:solidFill>
          <a:ln w="12700">
            <a:solidFill>
              <a:srgbClr val="9FCFC8"/>
            </a:solidFill>
            <a:prstDash val="solid"/>
          </a:ln>
        </p:spPr>
      </p:sp>
      <p:sp>
        <p:nvSpPr>
          <p:cNvPr id="10" name="texte-184"/>
          <p:cNvSpPr txBox="1"/>
          <p:nvPr/>
        </p:nvSpPr>
        <p:spPr>
          <a:xfrm>
            <a:off x="8458200" y="3127248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Significatif mais faible</a:t>
            </a:r>
            <a:endParaRPr lang="en-US" sz="1600" dirty="0"/>
          </a:p>
        </p:txBody>
      </p:sp>
      <p:sp>
        <p:nvSpPr>
          <p:cNvPr id="11" name="texte-185"/>
          <p:cNvSpPr txBox="1"/>
          <p:nvPr/>
        </p:nvSpPr>
        <p:spPr>
          <a:xfrm>
            <a:off x="8458200" y="3566160"/>
            <a:ext cx="3001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Var_1_group et is_inexperienced (V &lt; 0,11).</a:t>
            </a:r>
            <a:endParaRPr lang="en-US" sz="1350" dirty="0"/>
          </a:p>
        </p:txBody>
      </p:sp>
      <p:sp>
        <p:nvSpPr>
          <p:cNvPr id="12" name="carte-186"/>
          <p:cNvSpPr/>
          <p:nvPr/>
        </p:nvSpPr>
        <p:spPr>
          <a:xfrm>
            <a:off x="7772400" y="4389120"/>
            <a:ext cx="387065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legende-187"/>
          <p:cNvSpPr/>
          <p:nvPr/>
        </p:nvSpPr>
        <p:spPr>
          <a:xfrm>
            <a:off x="8001000" y="4663440"/>
            <a:ext cx="292608" cy="292608"/>
          </a:xfrm>
          <a:prstGeom prst="ellipse">
            <a:avLst/>
          </a:prstGeom>
          <a:solidFill>
            <a:srgbClr val="C9D3D5"/>
          </a:solidFill>
          <a:ln w="12700">
            <a:solidFill>
              <a:srgbClr val="C9D3D5"/>
            </a:solidFill>
            <a:prstDash val="solid"/>
          </a:ln>
        </p:spPr>
      </p:sp>
      <p:sp>
        <p:nvSpPr>
          <p:cNvPr id="14" name="texte-188"/>
          <p:cNvSpPr txBox="1"/>
          <p:nvPr/>
        </p:nvSpPr>
        <p:spPr>
          <a:xfrm>
            <a:off x="8458200" y="4590288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Non significatif</a:t>
            </a:r>
            <a:endParaRPr lang="en-US" sz="1600" dirty="0"/>
          </a:p>
        </p:txBody>
      </p:sp>
      <p:sp>
        <p:nvSpPr>
          <p:cNvPr id="15" name="texte-189"/>
          <p:cNvSpPr txBox="1"/>
          <p:nvPr/>
        </p:nvSpPr>
        <p:spPr>
          <a:xfrm>
            <a:off x="8458200" y="5029200"/>
            <a:ext cx="3001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Gender : p-value ≈ 0,053 &gt; 0,05, aucun lien démontré avec le segment.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Peu de redondance entre variables, sauf autour du statut marital</a:t>
            </a:r>
            <a:endParaRPr lang="en-US" sz="3000" dirty="0"/>
          </a:p>
        </p:txBody>
      </p:sp>
      <p:pic>
        <p:nvPicPr>
          <p:cNvPr id="3" name="graphique-cell47_20-190" descr="C:\Users\feuss\AppData\Local\Temp\claude\f--personnel-RECHERCHE-CDI-JAKALA-Projet-projet-JAKALA\15f43615-3883-45dd-bbfc-225afa16c6c9\scratchpad\img\cell47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3566160" cy="3028455"/>
          </a:xfrm>
          <a:prstGeom prst="rect">
            <a:avLst/>
          </a:prstGeom>
        </p:spPr>
      </p:pic>
      <p:pic>
        <p:nvPicPr>
          <p:cNvPr id="4" name="graphique-cell53_22-191" descr="C:\Users\feuss\AppData\Local\Temp\claude\f--personnel-RECHERCHE-CDI-JAKALA-Projet-projet-JAKALA\15f43615-3883-45dd-bbfc-225afa16c6c9\scratchpad\img\cell53_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234440"/>
            <a:ext cx="3931920" cy="3537190"/>
          </a:xfrm>
          <a:prstGeom prst="rect">
            <a:avLst/>
          </a:prstGeom>
        </p:spPr>
      </p:pic>
      <p:sp>
        <p:nvSpPr>
          <p:cNvPr id="5" name="liste-192"/>
          <p:cNvSpPr txBox="1"/>
          <p:nvPr/>
        </p:nvSpPr>
        <p:spPr>
          <a:xfrm>
            <a:off x="8503920" y="1325880"/>
            <a:ext cx="31391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Numériques (Spearman)</a:t>
            </a:r>
            <a:r>
              <a:rPr lang="en-US" sz="1400" dirty="0">
                <a:solidFill>
                  <a:schemeClr val="tx1"/>
                </a:solidFill>
              </a:rPr>
              <a:t> : corrélations faibles (|ρ| ≤ 0,28), pas de redondance.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Catégorielles (Cramér)</a:t>
            </a:r>
            <a:r>
              <a:rPr lang="en-US" sz="1400" dirty="0">
                <a:solidFill>
                  <a:schemeClr val="tx1"/>
                </a:solidFill>
              </a:rPr>
              <a:t> : Ever_Married fortement liée à Spending_Score (0,67) et à la profession (0,52).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Mixtes (η²)</a:t>
            </a:r>
            <a:r>
              <a:rPr lang="en-US" sz="1400" dirty="0">
                <a:solidFill>
                  <a:schemeClr val="tx1"/>
                </a:solidFill>
              </a:rPr>
              <a:t> : l'âge varie selon la profession (0,49) et le statut marital (0,32).</a:t>
            </a:r>
            <a:endParaRPr lang="en-US" sz="1400" dirty="0"/>
          </a:p>
        </p:txBody>
      </p:sp>
      <p:sp>
        <p:nvSpPr>
          <p:cNvPr id="6" name="carte-193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7" name="texte-194"/>
          <p:cNvSpPr txBox="1"/>
          <p:nvPr/>
        </p:nvSpPr>
        <p:spPr>
          <a:xfrm>
            <a:off x="868680" y="51663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/>
                </a:solidFill>
              </a:rPr>
              <a:t>Conséquence : </a:t>
            </a:r>
            <a:r>
              <a:rPr lang="en-US" sz="1450" dirty="0">
                <a:solidFill>
                  <a:schemeClr val="tx1"/>
                </a:solidFill>
              </a:rPr>
              <a:t>pas bloquant pour des modèles à base d'arbres, mais à garder en tête pour un modèle linéaire et pour interpréter les importances de variables. Point surprenant : l'âge et l'expérience sont négativement corrélés, contre l'intuition.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5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Préparation et modélisation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4023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Preprocessing, benchmark de 4 algorithmes, feature engineering et optimisation</a:t>
            </a:r>
            <a:endParaRPr lang="en-US" sz="1800" dirty="0"/>
          </a:p>
        </p:txBody>
      </p:sp>
      <p:sp>
        <p:nvSpPr>
          <p:cNvPr id="5" name="pastille-195"/>
          <p:cNvSpPr/>
          <p:nvPr/>
        </p:nvSpPr>
        <p:spPr>
          <a:xfrm>
            <a:off x="8595360" y="2240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tille-texte-196"/>
          <p:cNvSpPr txBox="1"/>
          <p:nvPr/>
        </p:nvSpPr>
        <p:spPr>
          <a:xfrm>
            <a:off x="859536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pastille-197"/>
          <p:cNvSpPr/>
          <p:nvPr/>
        </p:nvSpPr>
        <p:spPr>
          <a:xfrm>
            <a:off x="9372600" y="22402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astille-texte-198"/>
          <p:cNvSpPr txBox="1"/>
          <p:nvPr/>
        </p:nvSpPr>
        <p:spPr>
          <a:xfrm>
            <a:off x="937260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pastille-199"/>
          <p:cNvSpPr/>
          <p:nvPr/>
        </p:nvSpPr>
        <p:spPr>
          <a:xfrm>
            <a:off x="10149840" y="22402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astille-texte-200"/>
          <p:cNvSpPr txBox="1"/>
          <p:nvPr/>
        </p:nvSpPr>
        <p:spPr>
          <a:xfrm>
            <a:off x="1014984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1" name="pastille-201"/>
          <p:cNvSpPr/>
          <p:nvPr/>
        </p:nvSpPr>
        <p:spPr>
          <a:xfrm>
            <a:off x="10927080" y="22402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tille-texte-202"/>
          <p:cNvSpPr txBox="1"/>
          <p:nvPr/>
        </p:nvSpPr>
        <p:spPr>
          <a:xfrm>
            <a:off x="1092708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Preprocessing : des choix guidés par l'analyse exploratoire</a:t>
            </a:r>
            <a:endParaRPr lang="en-US" sz="3000" dirty="0"/>
          </a:p>
        </p:txBody>
      </p:sp>
      <p:sp>
        <p:nvSpPr>
          <p:cNvPr id="3" name="carte-203"/>
          <p:cNvSpPr/>
          <p:nvPr/>
        </p:nvSpPr>
        <p:spPr>
          <a:xfrm>
            <a:off x="548640" y="13258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pastille-204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pastille-texte-205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e-206"/>
          <p:cNvSpPr txBox="1"/>
          <p:nvPr/>
        </p:nvSpPr>
        <p:spPr>
          <a:xfrm>
            <a:off x="1554480" y="160020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Discrétisation supervisée</a:t>
            </a:r>
            <a:endParaRPr lang="en-US" sz="1800" dirty="0"/>
          </a:p>
        </p:txBody>
      </p:sp>
      <p:sp>
        <p:nvSpPr>
          <p:cNvPr id="7" name="texte-207"/>
          <p:cNvSpPr txBox="1"/>
          <p:nvPr/>
        </p:nvSpPr>
        <p:spPr>
          <a:xfrm>
            <a:off x="1554480" y="2240280"/>
            <a:ext cx="412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MulticlassOptimalBinning découpe chaque variable numérique en classes qui séparent au mieux les segments. Exemple : moins de 24 ans → 89 % en D.</a:t>
            </a:r>
            <a:endParaRPr lang="en-US" sz="1450" dirty="0"/>
          </a:p>
        </p:txBody>
      </p:sp>
      <p:sp>
        <p:nvSpPr>
          <p:cNvPr id="8" name="carte-208"/>
          <p:cNvSpPr/>
          <p:nvPr/>
        </p:nvSpPr>
        <p:spPr>
          <a:xfrm>
            <a:off x="6233008" y="13258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pastille-209"/>
          <p:cNvSpPr/>
          <p:nvPr/>
        </p:nvSpPr>
        <p:spPr>
          <a:xfrm>
            <a:off x="6507328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pastille-texte-210"/>
          <p:cNvSpPr txBox="1"/>
          <p:nvPr/>
        </p:nvSpPr>
        <p:spPr>
          <a:xfrm>
            <a:off x="650732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e-211"/>
          <p:cNvSpPr txBox="1"/>
          <p:nvPr/>
        </p:nvSpPr>
        <p:spPr>
          <a:xfrm>
            <a:off x="7238848" y="160020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Indicateur d'inexpérience</a:t>
            </a:r>
            <a:endParaRPr lang="en-US" sz="1800" dirty="0"/>
          </a:p>
        </p:txBody>
      </p:sp>
      <p:sp>
        <p:nvSpPr>
          <p:cNvPr id="12" name="texte-212"/>
          <p:cNvSpPr txBox="1"/>
          <p:nvPr/>
        </p:nvSpPr>
        <p:spPr>
          <a:xfrm>
            <a:off x="7238848" y="2240280"/>
            <a:ext cx="412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is_inexperienced = 1 si l'expérience est ≤ 1 an, la distribution de Work_Experience étant très concentrée sur 0–1 an.</a:t>
            </a:r>
            <a:endParaRPr lang="en-US" sz="1450" dirty="0"/>
          </a:p>
        </p:txBody>
      </p:sp>
      <p:sp>
        <p:nvSpPr>
          <p:cNvPr id="13" name="carte-213"/>
          <p:cNvSpPr/>
          <p:nvPr/>
        </p:nvSpPr>
        <p:spPr>
          <a:xfrm>
            <a:off x="548640" y="379476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pastille-214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pastille-texte-215"/>
          <p:cNvSpPr txBox="1"/>
          <p:nvPr/>
        </p:nvSpPr>
        <p:spPr>
          <a:xfrm>
            <a:off x="8229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e-216"/>
          <p:cNvSpPr txBox="1"/>
          <p:nvPr/>
        </p:nvSpPr>
        <p:spPr>
          <a:xfrm>
            <a:off x="1554480" y="406908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Imputation des numériques</a:t>
            </a:r>
            <a:endParaRPr lang="en-US" sz="1800" dirty="0"/>
          </a:p>
        </p:txBody>
      </p:sp>
      <p:sp>
        <p:nvSpPr>
          <p:cNvPr id="17" name="texte-217"/>
          <p:cNvSpPr txBox="1"/>
          <p:nvPr/>
        </p:nvSpPr>
        <p:spPr>
          <a:xfrm>
            <a:off x="1554480" y="4709160"/>
            <a:ext cx="412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Work_Experience : médiane du train (1 an). Family_Size : médiane du segment du client (2 pour A et B, 3 pour C et D).</a:t>
            </a:r>
            <a:endParaRPr lang="en-US" sz="1450" dirty="0"/>
          </a:p>
        </p:txBody>
      </p:sp>
      <p:sp>
        <p:nvSpPr>
          <p:cNvPr id="18" name="carte-218"/>
          <p:cNvSpPr/>
          <p:nvPr/>
        </p:nvSpPr>
        <p:spPr>
          <a:xfrm>
            <a:off x="6233008" y="379476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pastille-219"/>
          <p:cNvSpPr/>
          <p:nvPr/>
        </p:nvSpPr>
        <p:spPr>
          <a:xfrm>
            <a:off x="6507328" y="40690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pastille-texte-220"/>
          <p:cNvSpPr txBox="1"/>
          <p:nvPr/>
        </p:nvSpPr>
        <p:spPr>
          <a:xfrm>
            <a:off x="650732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e-221"/>
          <p:cNvSpPr txBox="1"/>
          <p:nvPr/>
        </p:nvSpPr>
        <p:spPr>
          <a:xfrm>
            <a:off x="7238848" y="406908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Imputation des catégorielles</a:t>
            </a:r>
            <a:endParaRPr lang="en-US" sz="1800" dirty="0"/>
          </a:p>
        </p:txBody>
      </p:sp>
      <p:sp>
        <p:nvSpPr>
          <p:cNvPr id="22" name="texte-222"/>
          <p:cNvSpPr txBox="1"/>
          <p:nvPr/>
        </p:nvSpPr>
        <p:spPr>
          <a:xfrm>
            <a:off x="7238848" y="4709160"/>
            <a:ext cx="412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Ever_Married, Graduated, Profession et Var_1 : modalité la plus fréquente dans le segment du client.</a:t>
            </a:r>
            <a:endParaRPr lang="en-US" sz="1450" dirty="0"/>
          </a:p>
        </p:txBody>
      </p:sp>
      <p:sp>
        <p:nvSpPr>
          <p:cNvPr id="23" name="texte-223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E73"/>
                </a:solidFill>
              </a:rPr>
              <a:t>Les variables imputées sont ajoutées avec le suffixe _imputed ; les variables d'origine sont conservées pour les modèles qui gèrent les manquants.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Une préparation adaptée à chaque famille de modèles</a:t>
            </a:r>
            <a:endParaRPr lang="en-US" sz="3000" dirty="0"/>
          </a:p>
        </p:txBody>
      </p:sp>
      <p:sp>
        <p:nvSpPr>
          <p:cNvPr id="3" name="carte-224"/>
          <p:cNvSpPr/>
          <p:nvPr/>
        </p:nvSpPr>
        <p:spPr>
          <a:xfrm>
            <a:off x="548640" y="1325880"/>
            <a:ext cx="3515258" cy="35204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e-225"/>
          <p:cNvSpPr txBox="1"/>
          <p:nvPr/>
        </p:nvSpPr>
        <p:spPr>
          <a:xfrm>
            <a:off x="822960" y="1554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Régression logistique</a:t>
            </a:r>
            <a:endParaRPr lang="en-US" sz="1900" dirty="0"/>
          </a:p>
        </p:txBody>
      </p:sp>
      <p:sp>
        <p:nvSpPr>
          <p:cNvPr id="5" name="texte-226"/>
          <p:cNvSpPr txBox="1"/>
          <p:nvPr/>
        </p:nvSpPr>
        <p:spPr>
          <a:xfrm>
            <a:off x="822960" y="20116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E6E73"/>
                </a:solidFill>
              </a:rPr>
              <a:t>Modèle linéaire</a:t>
            </a:r>
            <a:endParaRPr lang="en-US" sz="1300" dirty="0"/>
          </a:p>
        </p:txBody>
      </p:sp>
      <p:sp>
        <p:nvSpPr>
          <p:cNvPr id="6" name="liste-227"/>
          <p:cNvSpPr txBox="1"/>
          <p:nvPr/>
        </p:nvSpPr>
        <p:spPr>
          <a:xfrm>
            <a:off x="822960" y="2606040"/>
            <a:ext cx="29666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Variables imputées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RobustScaler sur les numériques (robuste aux valeurs extrêmes)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One-Hot Encoding des catégorielles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Encodage ordinal de Spending_Score</a:t>
            </a:r>
            <a:endParaRPr lang="en-US" sz="1450" dirty="0"/>
          </a:p>
        </p:txBody>
      </p:sp>
      <p:sp>
        <p:nvSpPr>
          <p:cNvPr id="7" name="carte-228"/>
          <p:cNvSpPr/>
          <p:nvPr/>
        </p:nvSpPr>
        <p:spPr>
          <a:xfrm>
            <a:off x="4338218" y="1325880"/>
            <a:ext cx="3515258" cy="35204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e-229"/>
          <p:cNvSpPr txBox="1"/>
          <p:nvPr/>
        </p:nvSpPr>
        <p:spPr>
          <a:xfrm>
            <a:off x="4612538" y="1554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Random Forest</a:t>
            </a:r>
            <a:endParaRPr lang="en-US" sz="1900" dirty="0"/>
          </a:p>
        </p:txBody>
      </p:sp>
      <p:sp>
        <p:nvSpPr>
          <p:cNvPr id="9" name="texte-230"/>
          <p:cNvSpPr txBox="1"/>
          <p:nvPr/>
        </p:nvSpPr>
        <p:spPr>
          <a:xfrm>
            <a:off x="4612538" y="20116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E6E73"/>
                </a:solidFill>
              </a:rPr>
              <a:t>Ensemble d'arbres (bagging)</a:t>
            </a:r>
            <a:endParaRPr lang="en-US" sz="1300" dirty="0"/>
          </a:p>
        </p:txBody>
      </p:sp>
      <p:sp>
        <p:nvSpPr>
          <p:cNvPr id="10" name="liste-231"/>
          <p:cNvSpPr txBox="1"/>
          <p:nvPr/>
        </p:nvSpPr>
        <p:spPr>
          <a:xfrm>
            <a:off x="4612538" y="2606040"/>
            <a:ext cx="29666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Variables imputées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Pas de mise à l'échelle (inutile pour les arbres)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One-Hot Encoding des catégorielles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Encodage ordinal de Spending_Score</a:t>
            </a:r>
            <a:endParaRPr lang="en-US" sz="1450" dirty="0"/>
          </a:p>
        </p:txBody>
      </p:sp>
      <p:sp>
        <p:nvSpPr>
          <p:cNvPr id="11" name="carte-232"/>
          <p:cNvSpPr/>
          <p:nvPr/>
        </p:nvSpPr>
        <p:spPr>
          <a:xfrm>
            <a:off x="8127797" y="1325880"/>
            <a:ext cx="3515258" cy="3520440"/>
          </a:xfrm>
          <a:prstGeom prst="roundRect">
            <a:avLst>
              <a:gd name="adj" fmla="val 2081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12" name="texte-233"/>
          <p:cNvSpPr txBox="1"/>
          <p:nvPr/>
        </p:nvSpPr>
        <p:spPr>
          <a:xfrm>
            <a:off x="8402117" y="1554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XGBoost / LightGBM</a:t>
            </a:r>
            <a:endParaRPr lang="en-US" sz="1900" dirty="0"/>
          </a:p>
        </p:txBody>
      </p:sp>
      <p:sp>
        <p:nvSpPr>
          <p:cNvPr id="13" name="texte-234"/>
          <p:cNvSpPr txBox="1"/>
          <p:nvPr/>
        </p:nvSpPr>
        <p:spPr>
          <a:xfrm>
            <a:off x="8402117" y="20116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E6E73"/>
                </a:solidFill>
              </a:rPr>
              <a:t>Gradient boosting</a:t>
            </a:r>
            <a:endParaRPr lang="en-US" sz="1300" dirty="0"/>
          </a:p>
        </p:txBody>
      </p:sp>
      <p:sp>
        <p:nvSpPr>
          <p:cNvPr id="14" name="liste-235"/>
          <p:cNvSpPr txBox="1"/>
          <p:nvPr/>
        </p:nvSpPr>
        <p:spPr>
          <a:xfrm>
            <a:off x="8402117" y="2606040"/>
            <a:ext cx="29666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Variables d'origine : valeurs manquantes gérées nativement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Catégorielles converties au type « category »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Cible encodée A→0, B→1, C→2, D→3</a:t>
            </a:r>
            <a:endParaRPr lang="en-US" sz="1450" dirty="0"/>
          </a:p>
        </p:txBody>
      </p:sp>
      <p:sp>
        <p:nvSpPr>
          <p:cNvPr id="15" name="carte-236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6" name="texte-237"/>
          <p:cNvSpPr txBox="1"/>
          <p:nvPr/>
        </p:nvSpPr>
        <p:spPr>
          <a:xfrm>
            <a:off x="868680" y="5193792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Pipelines scikit-learn : </a:t>
            </a:r>
            <a:r>
              <a:rPr lang="en-US" sz="1500" dirty="0">
                <a:solidFill>
                  <a:schemeClr val="bg1"/>
                </a:solidFill>
              </a:rPr>
              <a:t>encodage et mise à l'échelle sont appris sur les seuls folds d'entraînement à chaque itération de la validation croisée, ce qui évite toute fuite vers les folds de validation.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Benchmark : XGBoost obtient le meilleur score de validation</a:t>
            </a:r>
            <a:endParaRPr lang="en-US" sz="3000" dirty="0"/>
          </a:p>
        </p:txBody>
      </p:sp>
      <p:graphicFrame>
        <p:nvGraphicFramePr>
          <p:cNvPr id="3" name="graphique-benchmark"/>
          <p:cNvGraphicFramePr/>
          <p:nvPr/>
        </p:nvGraphicFramePr>
        <p:xfrm>
          <a:off x="548640" y="1280160"/>
          <a:ext cx="69494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e-238"/>
          <p:cNvSpPr txBox="1"/>
          <p:nvPr/>
        </p:nvSpPr>
        <p:spPr>
          <a:xfrm>
            <a:off x="7863840" y="13716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Rég. logistique</a:t>
            </a:r>
            <a:endParaRPr lang="en-US" sz="1500" dirty="0"/>
          </a:p>
        </p:txBody>
      </p:sp>
      <p:sp>
        <p:nvSpPr>
          <p:cNvPr id="5" name="texte-239"/>
          <p:cNvSpPr txBox="1"/>
          <p:nvPr/>
        </p:nvSpPr>
        <p:spPr>
          <a:xfrm>
            <a:off x="7863840" y="1700784"/>
            <a:ext cx="3779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Stable mais moins performante (0,487).</a:t>
            </a:r>
            <a:endParaRPr lang="en-US" sz="1400" dirty="0"/>
          </a:p>
        </p:txBody>
      </p:sp>
      <p:sp>
        <p:nvSpPr>
          <p:cNvPr id="6" name="texte-240"/>
          <p:cNvSpPr txBox="1"/>
          <p:nvPr/>
        </p:nvSpPr>
        <p:spPr>
          <a:xfrm>
            <a:off x="7863840" y="224028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7" name="texte-241"/>
          <p:cNvSpPr txBox="1"/>
          <p:nvPr/>
        </p:nvSpPr>
        <p:spPr>
          <a:xfrm>
            <a:off x="7863840" y="2569464"/>
            <a:ext cx="3779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Stable, 0,504 en validation.</a:t>
            </a:r>
            <a:endParaRPr lang="en-US" sz="1400" dirty="0"/>
          </a:p>
        </p:txBody>
      </p:sp>
      <p:sp>
        <p:nvSpPr>
          <p:cNvPr id="8" name="texte-242"/>
          <p:cNvSpPr txBox="1"/>
          <p:nvPr/>
        </p:nvSpPr>
        <p:spPr>
          <a:xfrm>
            <a:off x="7863840" y="310896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LightGBM</a:t>
            </a:r>
            <a:endParaRPr lang="en-US" sz="1500" dirty="0"/>
          </a:p>
        </p:txBody>
      </p:sp>
      <p:sp>
        <p:nvSpPr>
          <p:cNvPr id="9" name="texte-243"/>
          <p:cNvSpPr txBox="1"/>
          <p:nvPr/>
        </p:nvSpPr>
        <p:spPr>
          <a:xfrm>
            <a:off x="7863840" y="3438144"/>
            <a:ext cx="3779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Sur-apprend nettement : écart ≈ 0,19.</a:t>
            </a:r>
            <a:endParaRPr lang="en-US" sz="1400" dirty="0"/>
          </a:p>
        </p:txBody>
      </p:sp>
      <p:sp>
        <p:nvSpPr>
          <p:cNvPr id="10" name="carte-244"/>
          <p:cNvSpPr/>
          <p:nvPr/>
        </p:nvSpPr>
        <p:spPr>
          <a:xfrm>
            <a:off x="7863840" y="4114800"/>
            <a:ext cx="3779215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1" name="texte-245"/>
          <p:cNvSpPr txBox="1"/>
          <p:nvPr/>
        </p:nvSpPr>
        <p:spPr>
          <a:xfrm>
            <a:off x="8138160" y="4279392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Choix : XGBoost</a:t>
            </a:r>
            <a:endParaRPr lang="en-US" sz="2000" dirty="0"/>
          </a:p>
        </p:txBody>
      </p:sp>
      <p:sp>
        <p:nvSpPr>
          <p:cNvPr id="12" name="texte-246"/>
          <p:cNvSpPr txBox="1"/>
          <p:nvPr/>
        </p:nvSpPr>
        <p:spPr>
          <a:xfrm>
            <a:off x="8138160" y="4754880"/>
            <a:ext cx="32305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Meilleur F1 de validation (0,511) et sur-apprentissage plus modéré que LightGBM. Écart train/validation encore à réduire (≈ 0,15).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Feature engineering : neuf variables métier ajoutées</a:t>
            </a:r>
            <a:endParaRPr lang="en-US" sz="3000" dirty="0"/>
          </a:p>
        </p:txBody>
      </p:sp>
      <p:graphicFrame>
        <p:nvGraphicFramePr>
          <p:cNvPr id="21" name="tableau-featu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42976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Variable créée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Définition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Intuition métier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start_work_age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Age − Work_Experience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Âge d'entrée dans la vie active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stable_profile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Diplômé et marié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Profil installé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experienced_no_degree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 diplômé, &gt; 5 ans d'expérience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Profil autodidacte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large_family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Family_Size ≥ 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Contraintes budgétaires probables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single_no_family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 marié et vit seul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Profil jeune et indépendant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stability_score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Marié + diplômé + &gt; 3 ans d'expérience (0 à 3)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Degré de stabilité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exp_vs_profession_mean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Expérience − moyenne de la profession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Position dans sa profession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family_vs_var1_mean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Family_Size − moyenne du groupe Var_1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Foyer relatif à sa catégorie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age_vs_profession_mean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Age − âge moyen de la profession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Âge relatif à sa profession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e-247"/>
          <p:cNvSpPr txBox="1"/>
          <p:nvPr/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E73"/>
                </a:solidFill>
              </a:rPr>
              <a:t>Les moyennes par groupe sont calculées sur le train puis appliquées au test. Le score de dépenses est aussi converti en numérique (spending_num : 0, 1, 2).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Optuna et early stopping : un modèle mieux régularisé</a:t>
            </a:r>
            <a:endParaRPr lang="en-US" sz="3000" dirty="0"/>
          </a:p>
        </p:txBody>
      </p:sp>
      <p:sp>
        <p:nvSpPr>
          <p:cNvPr id="3" name="carte-248"/>
          <p:cNvSpPr/>
          <p:nvPr/>
        </p:nvSpPr>
        <p:spPr>
          <a:xfrm>
            <a:off x="548640" y="1325880"/>
            <a:ext cx="35152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e-249"/>
          <p:cNvSpPr txBox="1"/>
          <p:nvPr/>
        </p:nvSpPr>
        <p:spPr>
          <a:xfrm>
            <a:off x="777240" y="1490472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0,511 → 0,519</a:t>
            </a:r>
            <a:endParaRPr lang="en-US" sz="3200" dirty="0"/>
          </a:p>
        </p:txBody>
      </p:sp>
      <p:sp>
        <p:nvSpPr>
          <p:cNvPr id="5" name="texte-250"/>
          <p:cNvSpPr txBox="1"/>
          <p:nvPr/>
        </p:nvSpPr>
        <p:spPr>
          <a:xfrm>
            <a:off x="777240" y="21945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F1-macro de validation : baseline → meilleur essai Optuna (n° 75 sur 100)</a:t>
            </a:r>
            <a:endParaRPr lang="en-US" sz="1300" dirty="0"/>
          </a:p>
        </p:txBody>
      </p:sp>
      <p:sp>
        <p:nvSpPr>
          <p:cNvPr id="6" name="carte-251"/>
          <p:cNvSpPr/>
          <p:nvPr/>
        </p:nvSpPr>
        <p:spPr>
          <a:xfrm>
            <a:off x="4338218" y="1325880"/>
            <a:ext cx="35152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e-252"/>
          <p:cNvSpPr txBox="1"/>
          <p:nvPr/>
        </p:nvSpPr>
        <p:spPr>
          <a:xfrm>
            <a:off x="4566818" y="1490472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0,15 → 0,03</a:t>
            </a:r>
            <a:endParaRPr lang="en-US" sz="3200" dirty="0"/>
          </a:p>
        </p:txBody>
      </p:sp>
      <p:sp>
        <p:nvSpPr>
          <p:cNvPr id="8" name="texte-253"/>
          <p:cNvSpPr txBox="1"/>
          <p:nvPr/>
        </p:nvSpPr>
        <p:spPr>
          <a:xfrm>
            <a:off x="4566818" y="21945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écart train / validation : le sur-apprentissage est maîtrisé</a:t>
            </a:r>
            <a:endParaRPr lang="en-US" sz="1300" dirty="0"/>
          </a:p>
        </p:txBody>
      </p:sp>
      <p:sp>
        <p:nvSpPr>
          <p:cNvPr id="9" name="carte-254"/>
          <p:cNvSpPr/>
          <p:nvPr/>
        </p:nvSpPr>
        <p:spPr>
          <a:xfrm>
            <a:off x="8127797" y="1325880"/>
            <a:ext cx="35152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e-255"/>
          <p:cNvSpPr txBox="1"/>
          <p:nvPr/>
        </p:nvSpPr>
        <p:spPr>
          <a:xfrm>
            <a:off x="8356397" y="1490472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≈ 497</a:t>
            </a:r>
            <a:endParaRPr lang="en-US" sz="3200" dirty="0"/>
          </a:p>
        </p:txBody>
      </p:sp>
      <p:sp>
        <p:nvSpPr>
          <p:cNvPr id="11" name="texte-256"/>
          <p:cNvSpPr txBox="1"/>
          <p:nvPr/>
        </p:nvSpPr>
        <p:spPr>
          <a:xfrm>
            <a:off x="8356397" y="21945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arbres réellement utiles sur 499 (early stopping à 30 rounds)</a:t>
            </a:r>
            <a:endParaRPr lang="en-US" sz="1300" dirty="0"/>
          </a:p>
        </p:txBody>
      </p:sp>
      <p:graphicFrame>
        <p:nvGraphicFramePr>
          <p:cNvPr id="22" name="tableau-hyperparamet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5120640" cy="300837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Hyperparamètre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Valeur retenue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max_depth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min_child_weight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learning_rate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0,0125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n_estimators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499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subsample / colsample_bytree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0,58 / 0,76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gamma / reg_lambda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0,77 / 1,80</a:t>
                      </a:r>
                      <a:endParaRPr lang="en-US" sz="1350" dirty="0"/>
                    </a:p>
                  </a:txBody>
                  <a:tcPr anchor="ctr">
                    <a:lnL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liste-257"/>
          <p:cNvSpPr txBox="1"/>
          <p:nvPr/>
        </p:nvSpPr>
        <p:spPr>
          <a:xfrm>
            <a:off x="6035040" y="3108960"/>
            <a:ext cx="56080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Recherche TPE</a:t>
            </a:r>
            <a:r>
              <a:rPr lang="en-US" sz="1400" dirty="0">
                <a:solidFill>
                  <a:schemeClr val="tx1"/>
                </a:solidFill>
              </a:rPr>
              <a:t> sur 10 hyperparamètres, chaque essai évalué en validation croisée 5 folds sur les données enrichies.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modèle retenu est </a:t>
            </a:r>
            <a:r>
              <a:rPr lang="en-US" sz="1400" b="1" dirty="0">
                <a:solidFill>
                  <a:schemeClr val="tx1"/>
                </a:solidFill>
              </a:rPr>
              <a:t>simple</a:t>
            </a:r>
            <a:r>
              <a:rPr lang="en-US" sz="1400" dirty="0">
                <a:solidFill>
                  <a:schemeClr val="tx1"/>
                </a:solidFill>
              </a:rPr>
              <a:t> (arbres de profondeur 3) et </a:t>
            </a:r>
            <a:r>
              <a:rPr lang="en-US" sz="1400" b="1" dirty="0">
                <a:solidFill>
                  <a:schemeClr val="tx1"/>
                </a:solidFill>
              </a:rPr>
              <a:t>régularisé</a:t>
            </a:r>
            <a:r>
              <a:rPr lang="en-US" sz="1400" dirty="0">
                <a:solidFill>
                  <a:schemeClr val="tx1"/>
                </a:solidFill>
              </a:rPr>
              <a:t> (min_child_weight élevé, sous-échantillonnage) : c'est ce qui réduit le sur-apprentissage.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Gain de score modeste (+0,009) mais </a:t>
            </a:r>
            <a:r>
              <a:rPr lang="en-US" sz="1400" b="1" dirty="0">
                <a:solidFill>
                  <a:schemeClr val="tx1"/>
                </a:solidFill>
              </a:rPr>
              <a:t>scores stables</a:t>
            </a:r>
            <a:r>
              <a:rPr lang="en-US" sz="1400" dirty="0">
                <a:solidFill>
                  <a:schemeClr val="tx1"/>
                </a:solidFill>
              </a:rPr>
              <a:t> d'un fold à l'autre (écart-type ≈ 0,01).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L'early stopping ne se déclenche quasiment pas : les ~500 arbres sont utiles.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5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Résultats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4023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Performance sur le jeu de test et interprétabilité du modèle</a:t>
            </a:r>
            <a:endParaRPr lang="en-US" sz="1800" dirty="0"/>
          </a:p>
        </p:txBody>
      </p:sp>
      <p:sp>
        <p:nvSpPr>
          <p:cNvPr id="5" name="pastille-258"/>
          <p:cNvSpPr/>
          <p:nvPr/>
        </p:nvSpPr>
        <p:spPr>
          <a:xfrm>
            <a:off x="8595360" y="2240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tille-texte-259"/>
          <p:cNvSpPr txBox="1"/>
          <p:nvPr/>
        </p:nvSpPr>
        <p:spPr>
          <a:xfrm>
            <a:off x="859536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pastille-260"/>
          <p:cNvSpPr/>
          <p:nvPr/>
        </p:nvSpPr>
        <p:spPr>
          <a:xfrm>
            <a:off x="9372600" y="22402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astille-texte-261"/>
          <p:cNvSpPr txBox="1"/>
          <p:nvPr/>
        </p:nvSpPr>
        <p:spPr>
          <a:xfrm>
            <a:off x="937260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pastille-262"/>
          <p:cNvSpPr/>
          <p:nvPr/>
        </p:nvSpPr>
        <p:spPr>
          <a:xfrm>
            <a:off x="10149840" y="22402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astille-texte-263"/>
          <p:cNvSpPr txBox="1"/>
          <p:nvPr/>
        </p:nvSpPr>
        <p:spPr>
          <a:xfrm>
            <a:off x="1014984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1" name="pastille-264"/>
          <p:cNvSpPr/>
          <p:nvPr/>
        </p:nvSpPr>
        <p:spPr>
          <a:xfrm>
            <a:off x="10927080" y="22402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tille-texte-265"/>
          <p:cNvSpPr txBox="1"/>
          <p:nvPr/>
        </p:nvSpPr>
        <p:spPr>
          <a:xfrm>
            <a:off x="1092708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Sur le test, F1-macro de 0,53 : le modèle généralise bien</a:t>
            </a:r>
            <a:endParaRPr lang="en-US" sz="3000" dirty="0"/>
          </a:p>
        </p:txBody>
      </p:sp>
      <p:sp>
        <p:nvSpPr>
          <p:cNvPr id="3" name="carte-266"/>
          <p:cNvSpPr/>
          <p:nvPr/>
        </p:nvSpPr>
        <p:spPr>
          <a:xfrm>
            <a:off x="548640" y="1325880"/>
            <a:ext cx="32918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e-267"/>
          <p:cNvSpPr txBox="1"/>
          <p:nvPr/>
        </p:nvSpPr>
        <p:spPr>
          <a:xfrm>
            <a:off x="777240" y="14904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0,529</a:t>
            </a:r>
            <a:endParaRPr lang="en-US" sz="4800" dirty="0"/>
          </a:p>
        </p:txBody>
      </p:sp>
      <p:sp>
        <p:nvSpPr>
          <p:cNvPr id="5" name="texte-268"/>
          <p:cNvSpPr txBox="1"/>
          <p:nvPr/>
        </p:nvSpPr>
        <p:spPr>
          <a:xfrm>
            <a:off x="77724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F1-macro sur le jeu de test (1 614 clients)</a:t>
            </a:r>
            <a:endParaRPr lang="en-US" sz="1300" dirty="0"/>
          </a:p>
        </p:txBody>
      </p:sp>
      <p:sp>
        <p:nvSpPr>
          <p:cNvPr id="6" name="carte-269"/>
          <p:cNvSpPr/>
          <p:nvPr/>
        </p:nvSpPr>
        <p:spPr>
          <a:xfrm>
            <a:off x="548640" y="2926080"/>
            <a:ext cx="32918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e-270"/>
          <p:cNvSpPr txBox="1"/>
          <p:nvPr/>
        </p:nvSpPr>
        <p:spPr>
          <a:xfrm>
            <a:off x="777240" y="30906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0,55</a:t>
            </a:r>
            <a:endParaRPr lang="en-US" sz="4000" dirty="0"/>
          </a:p>
        </p:txBody>
      </p:sp>
      <p:sp>
        <p:nvSpPr>
          <p:cNvPr id="8" name="texte-271"/>
          <p:cNvSpPr txBox="1"/>
          <p:nvPr/>
        </p:nvSpPr>
        <p:spPr>
          <a:xfrm>
            <a:off x="77724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accuracy · validation croisée : 0,52</a:t>
            </a:r>
            <a:endParaRPr lang="en-US" sz="1300" dirty="0"/>
          </a:p>
        </p:txBody>
      </p:sp>
      <p:sp>
        <p:nvSpPr>
          <p:cNvPr id="9" name="carte-272"/>
          <p:cNvSpPr/>
          <p:nvPr/>
        </p:nvSpPr>
        <p:spPr>
          <a:xfrm>
            <a:off x="548640" y="452628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10" name="texte-273"/>
          <p:cNvSpPr txBox="1"/>
          <p:nvPr/>
        </p:nvSpPr>
        <p:spPr>
          <a:xfrm>
            <a:off x="777240" y="4645152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Score de test cohérent avec la validation croisée : pas de sur-apprentissage, mais une performance encore moyenne.</a:t>
            </a:r>
            <a:endParaRPr lang="en-US" sz="1350" dirty="0"/>
          </a:p>
        </p:txBody>
      </p:sp>
      <p:graphicFrame>
        <p:nvGraphicFramePr>
          <p:cNvPr id="11" name="graphique-scores-segment"/>
          <p:cNvGraphicFramePr/>
          <p:nvPr/>
        </p:nvGraphicFramePr>
        <p:xfrm>
          <a:off x="4206240" y="1280160"/>
          <a:ext cx="7436815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liste-274"/>
          <p:cNvSpPr txBox="1"/>
          <p:nvPr/>
        </p:nvSpPr>
        <p:spPr>
          <a:xfrm>
            <a:off x="4389120" y="5303520"/>
            <a:ext cx="7253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</a:t>
            </a:r>
            <a:r>
              <a:rPr lang="en-US" sz="1400" dirty="0">
                <a:solidFill>
                  <a:schemeClr val="tx1"/>
                </a:solidFill>
              </a:rPr>
              <a:t> est le mieux prédit (F1 ≈ 0,70, rappel ≈ 0,77) ; </a:t>
            </a:r>
            <a:r>
              <a:rPr lang="en-US" sz="1400" b="1" dirty="0">
                <a:solidFill>
                  <a:schemeClr val="tx1"/>
                </a:solidFill>
              </a:rPr>
              <a:t>C</a:t>
            </a:r>
            <a:r>
              <a:rPr lang="en-US" sz="1400" dirty="0">
                <a:solidFill>
                  <a:schemeClr val="tx1"/>
                </a:solidFill>
              </a:rPr>
              <a:t> est moyen (0,59).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r>
              <a:rPr lang="en-US" sz="1400" dirty="0">
                <a:solidFill>
                  <a:schemeClr val="tx1"/>
                </a:solidFill>
              </a:rPr>
              <a:t> (0,45) et surtout </a:t>
            </a:r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sz="1400" dirty="0">
                <a:solidFill>
                  <a:schemeClr val="tx1"/>
                </a:solidFill>
              </a:rPr>
              <a:t> (0,37) tirent le score global vers le bas.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Le segment B est confondu avec A et C</a:t>
            </a:r>
            <a:endParaRPr lang="en-US" sz="3000" dirty="0"/>
          </a:p>
        </p:txBody>
      </p:sp>
      <p:pic>
        <p:nvPicPr>
          <p:cNvPr id="3" name="graphique-cell98_25-275" descr="C:\Users\feuss\AppData\Local\Temp\claude\f--personnel-RECHERCHE-CDI-JAKALA-Projet-projet-JAKALA\15f43615-3883-45dd-bbfc-225afa16c6c9\scratchpad\img\cell98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498080" cy="3417633"/>
          </a:xfrm>
          <a:prstGeom prst="rect">
            <a:avLst/>
          </a:prstGeom>
        </p:spPr>
      </p:pic>
      <p:sp>
        <p:nvSpPr>
          <p:cNvPr id="4" name="texte-276"/>
          <p:cNvSpPr txBox="1"/>
          <p:nvPr/>
        </p:nvSpPr>
        <p:spPr>
          <a:xfrm>
            <a:off x="548640" y="4800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E73"/>
                </a:solidFill>
              </a:rPr>
              <a:t>Matrice de confusion du XGBoost optimisé (0 = A, 1 = B, 2 = C, 3 = D) : effectifs et proportions par ligne</a:t>
            </a:r>
            <a:endParaRPr lang="en-US" sz="1100" dirty="0"/>
          </a:p>
        </p:txBody>
      </p:sp>
      <p:sp>
        <p:nvSpPr>
          <p:cNvPr id="5" name="pastille-277"/>
          <p:cNvSpPr/>
          <p:nvPr/>
        </p:nvSpPr>
        <p:spPr>
          <a:xfrm>
            <a:off x="8366760" y="13716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pastille-texte-278"/>
          <p:cNvSpPr txBox="1"/>
          <p:nvPr/>
        </p:nvSpPr>
        <p:spPr>
          <a:xfrm>
            <a:off x="83667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7" name="texte-279"/>
          <p:cNvSpPr txBox="1"/>
          <p:nvPr/>
        </p:nvSpPr>
        <p:spPr>
          <a:xfrm>
            <a:off x="9098280" y="1353312"/>
            <a:ext cx="2544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77 % des clients D sont correctement classés.</a:t>
            </a:r>
            <a:endParaRPr lang="en-US" sz="1450" dirty="0"/>
          </a:p>
        </p:txBody>
      </p:sp>
      <p:sp>
        <p:nvSpPr>
          <p:cNvPr id="8" name="pastille-280"/>
          <p:cNvSpPr/>
          <p:nvPr/>
        </p:nvSpPr>
        <p:spPr>
          <a:xfrm>
            <a:off x="8366760" y="2560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pastille-texte-281"/>
          <p:cNvSpPr txBox="1"/>
          <p:nvPr/>
        </p:nvSpPr>
        <p:spPr>
          <a:xfrm>
            <a:off x="83667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0" name="texte-282"/>
          <p:cNvSpPr txBox="1"/>
          <p:nvPr/>
        </p:nvSpPr>
        <p:spPr>
          <a:xfrm>
            <a:off x="9098280" y="2542032"/>
            <a:ext cx="2544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Souvent classé en A (28 %) ou en C (30 %) : profils proches en âge, statut marital et diplôme.</a:t>
            </a:r>
            <a:endParaRPr lang="en-US" sz="1450" dirty="0"/>
          </a:p>
        </p:txBody>
      </p:sp>
      <p:sp>
        <p:nvSpPr>
          <p:cNvPr id="11" name="pastille-283"/>
          <p:cNvSpPr/>
          <p:nvPr/>
        </p:nvSpPr>
        <p:spPr>
          <a:xfrm>
            <a:off x="8366760" y="3749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astille-texte-284"/>
          <p:cNvSpPr txBox="1"/>
          <p:nvPr/>
        </p:nvSpPr>
        <p:spPr>
          <a:xfrm>
            <a:off x="836676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3" name="texte-285"/>
          <p:cNvSpPr txBox="1"/>
          <p:nvPr/>
        </p:nvSpPr>
        <p:spPr>
          <a:xfrm>
            <a:off x="9098280" y="3730752"/>
            <a:ext cx="2544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24 % des clients A sont classés en D.</a:t>
            </a:r>
            <a:endParaRPr lang="en-US" sz="1450" dirty="0"/>
          </a:p>
        </p:txBody>
      </p:sp>
      <p:sp>
        <p:nvSpPr>
          <p:cNvPr id="14" name="carte-286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3F1EF"/>
          </a:solidFill>
          <a:ln w="6350">
            <a:solidFill>
              <a:srgbClr val="E3F1EF"/>
            </a:solidFill>
            <a:prstDash val="solid"/>
          </a:ln>
        </p:spPr>
      </p:sp>
      <p:sp>
        <p:nvSpPr>
          <p:cNvPr id="15" name="texte-287"/>
          <p:cNvSpPr txBox="1"/>
          <p:nvPr/>
        </p:nvSpPr>
        <p:spPr>
          <a:xfrm>
            <a:off x="868680" y="53035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Lecture : </a:t>
            </a:r>
            <a:r>
              <a:rPr lang="en-US" sz="1500" dirty="0">
                <a:solidFill>
                  <a:schemeClr val="tx1"/>
                </a:solidFill>
              </a:rPr>
              <a:t>les variables disponibles suffisent à isoler les jeunes clients (D), mais pas à séparer finement les profils « installés » A, B et 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stable_profile, une variable créée, arrive en tête des importances</a:t>
            </a:r>
            <a:endParaRPr lang="en-US" sz="3000" dirty="0"/>
          </a:p>
        </p:txBody>
      </p:sp>
      <p:pic>
        <p:nvPicPr>
          <p:cNvPr id="3" name="graphique-cell101_26-288" descr="C:\Users\feuss\AppData\Local\Temp\claude\f--personnel-RECHERCHE-CDI-JAKALA-Projet-projet-JAKALA\15f43615-3883-45dd-bbfc-225afa16c6c9\scratchpad\img\cell101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223760" cy="4305069"/>
          </a:xfrm>
          <a:prstGeom prst="rect">
            <a:avLst/>
          </a:prstGeom>
        </p:spPr>
      </p:pic>
      <p:sp>
        <p:nvSpPr>
          <p:cNvPr id="4" name="texte-289"/>
          <p:cNvSpPr txBox="1"/>
          <p:nvPr/>
        </p:nvSpPr>
        <p:spPr>
          <a:xfrm>
            <a:off x="8138160" y="132588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Top 5</a:t>
            </a:r>
            <a:endParaRPr lang="en-US" sz="1800" dirty="0"/>
          </a:p>
        </p:txBody>
      </p:sp>
      <p:sp>
        <p:nvSpPr>
          <p:cNvPr id="5" name="pastille-290"/>
          <p:cNvSpPr/>
          <p:nvPr/>
        </p:nvSpPr>
        <p:spPr>
          <a:xfrm>
            <a:off x="8138160" y="17830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pastille-texte-291"/>
          <p:cNvSpPr txBox="1"/>
          <p:nvPr/>
        </p:nvSpPr>
        <p:spPr>
          <a:xfrm>
            <a:off x="81381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e-292"/>
          <p:cNvSpPr txBox="1"/>
          <p:nvPr/>
        </p:nvSpPr>
        <p:spPr>
          <a:xfrm>
            <a:off x="8686800" y="1783080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stable_profile (diplômé et marié)</a:t>
            </a:r>
            <a:endParaRPr lang="en-US" sz="1450" dirty="0"/>
          </a:p>
        </p:txBody>
      </p:sp>
      <p:sp>
        <p:nvSpPr>
          <p:cNvPr id="8" name="pastille-293"/>
          <p:cNvSpPr/>
          <p:nvPr/>
        </p:nvSpPr>
        <p:spPr>
          <a:xfrm>
            <a:off x="8138160" y="228600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-texte-294"/>
          <p:cNvSpPr txBox="1"/>
          <p:nvPr/>
        </p:nvSpPr>
        <p:spPr>
          <a:xfrm>
            <a:off x="81381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e-295"/>
          <p:cNvSpPr txBox="1"/>
          <p:nvPr/>
        </p:nvSpPr>
        <p:spPr>
          <a:xfrm>
            <a:off x="8686800" y="2286000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Age</a:t>
            </a:r>
            <a:endParaRPr lang="en-US" sz="1450" dirty="0"/>
          </a:p>
        </p:txBody>
      </p:sp>
      <p:sp>
        <p:nvSpPr>
          <p:cNvPr id="11" name="pastille-296"/>
          <p:cNvSpPr/>
          <p:nvPr/>
        </p:nvSpPr>
        <p:spPr>
          <a:xfrm>
            <a:off x="8138160" y="27889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pastille-texte-297"/>
          <p:cNvSpPr txBox="1"/>
          <p:nvPr/>
        </p:nvSpPr>
        <p:spPr>
          <a:xfrm>
            <a:off x="813816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e-298"/>
          <p:cNvSpPr txBox="1"/>
          <p:nvPr/>
        </p:nvSpPr>
        <p:spPr>
          <a:xfrm>
            <a:off x="8686800" y="2788920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spending_num</a:t>
            </a:r>
            <a:endParaRPr lang="en-US" sz="1450" dirty="0"/>
          </a:p>
        </p:txBody>
      </p:sp>
      <p:sp>
        <p:nvSpPr>
          <p:cNvPr id="14" name="pastille-299"/>
          <p:cNvSpPr/>
          <p:nvPr/>
        </p:nvSpPr>
        <p:spPr>
          <a:xfrm>
            <a:off x="8138160" y="329184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tille-texte-300"/>
          <p:cNvSpPr txBox="1"/>
          <p:nvPr/>
        </p:nvSpPr>
        <p:spPr>
          <a:xfrm>
            <a:off x="81381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e-301"/>
          <p:cNvSpPr txBox="1"/>
          <p:nvPr/>
        </p:nvSpPr>
        <p:spPr>
          <a:xfrm>
            <a:off x="8686800" y="3291840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Profession_group</a:t>
            </a:r>
            <a:endParaRPr lang="en-US" sz="1450" dirty="0"/>
          </a:p>
        </p:txBody>
      </p:sp>
      <p:sp>
        <p:nvSpPr>
          <p:cNvPr id="17" name="pastille-302"/>
          <p:cNvSpPr/>
          <p:nvPr/>
        </p:nvSpPr>
        <p:spPr>
          <a:xfrm>
            <a:off x="8138160" y="37947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astille-texte-303"/>
          <p:cNvSpPr txBox="1"/>
          <p:nvPr/>
        </p:nvSpPr>
        <p:spPr>
          <a:xfrm>
            <a:off x="81381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e-304"/>
          <p:cNvSpPr txBox="1"/>
          <p:nvPr/>
        </p:nvSpPr>
        <p:spPr>
          <a:xfrm>
            <a:off x="8686800" y="3794760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Spending_Score</a:t>
            </a:r>
            <a:endParaRPr lang="en-US" sz="1450" dirty="0"/>
          </a:p>
        </p:txBody>
      </p:sp>
      <p:sp>
        <p:nvSpPr>
          <p:cNvPr id="20" name="liste-305"/>
          <p:cNvSpPr txBox="1"/>
          <p:nvPr/>
        </p:nvSpPr>
        <p:spPr>
          <a:xfrm>
            <a:off x="8138160" y="4434840"/>
            <a:ext cx="3504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Plusieurs variables du </a:t>
            </a:r>
            <a:r>
              <a:rPr lang="en-US" sz="1350" b="1" dirty="0">
                <a:solidFill>
                  <a:schemeClr val="tx1"/>
                </a:solidFill>
              </a:rPr>
              <a:t>feature engineering</a:t>
            </a:r>
            <a:r>
              <a:rPr lang="en-US" sz="1350" dirty="0">
                <a:solidFill>
                  <a:schemeClr val="tx1"/>
                </a:solidFill>
              </a:rPr>
              <a:t> figurent dans le top 15 (start_work_age, single_no_family, family_vs_var1_mean…) : elles sont utiles.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 retrouve les variables mises en avant par l'exploration : âge, statut marital, diplôme, profession, dépenses.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SHAP : l'âge oppose les segments B et D</a:t>
            </a:r>
            <a:endParaRPr lang="en-US" sz="3000" dirty="0"/>
          </a:p>
        </p:txBody>
      </p:sp>
      <p:pic>
        <p:nvPicPr>
          <p:cNvPr id="3" name="graphique-shap_B-306" descr="C:\Users\feuss\AppData\Local\Temp\claude\f--personnel-RECHERCHE-CDI-JAKALA-Projet-projet-JAKALA\15f43615-3883-45dd-bbfc-225afa16c6c9\scratchpad\img\shap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114800" cy="3740727"/>
          </a:xfrm>
          <a:prstGeom prst="rect">
            <a:avLst/>
          </a:prstGeom>
        </p:spPr>
      </p:pic>
      <p:pic>
        <p:nvPicPr>
          <p:cNvPr id="4" name="graphique-shap_D-307" descr="C:\Users\feuss\AppData\Local\Temp\claude\f--personnel-RECHERCHE-CDI-JAKALA-Projet-projet-JAKALA\15f43615-3883-45dd-bbfc-225afa16c6c9\scratchpad\img\shap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4114800" cy="3813363"/>
          </a:xfrm>
          <a:prstGeom prst="rect">
            <a:avLst/>
          </a:prstGeom>
        </p:spPr>
      </p:pic>
      <p:sp>
        <p:nvSpPr>
          <p:cNvPr id="5" name="texte-308"/>
          <p:cNvSpPr txBox="1"/>
          <p:nvPr/>
        </p:nvSpPr>
        <p:spPr>
          <a:xfrm>
            <a:off x="548640" y="5806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E73"/>
                </a:solidFill>
              </a:rPr>
              <a:t>Valeurs SHAP sur le test · Segment 1 = B, Segment 3 = D · rouge = valeur élevée, bleu = valeur faible</a:t>
            </a:r>
            <a:endParaRPr lang="en-US" sz="1100" dirty="0"/>
          </a:p>
        </p:txBody>
      </p:sp>
      <p:sp>
        <p:nvSpPr>
          <p:cNvPr id="6" name="carte-309"/>
          <p:cNvSpPr/>
          <p:nvPr/>
        </p:nvSpPr>
        <p:spPr>
          <a:xfrm>
            <a:off x="9189720" y="1325880"/>
            <a:ext cx="2453335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e-310"/>
          <p:cNvSpPr txBox="1"/>
          <p:nvPr/>
        </p:nvSpPr>
        <p:spPr>
          <a:xfrm>
            <a:off x="9418320" y="1508760"/>
            <a:ext cx="1996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Age</a:t>
            </a:r>
            <a:endParaRPr lang="en-US" sz="1600" dirty="0"/>
          </a:p>
        </p:txBody>
      </p:sp>
      <p:sp>
        <p:nvSpPr>
          <p:cNvPr id="8" name="texte-311"/>
          <p:cNvSpPr txBox="1"/>
          <p:nvPr/>
        </p:nvSpPr>
        <p:spPr>
          <a:xfrm>
            <a:off x="9418320" y="1965960"/>
            <a:ext cx="19961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 âge faible diminue la probabilité d'être en B (et C) et augmente fortement celle d'être en D.</a:t>
            </a:r>
            <a:endParaRPr lang="en-US" sz="1400" dirty="0"/>
          </a:p>
        </p:txBody>
      </p:sp>
      <p:sp>
        <p:nvSpPr>
          <p:cNvPr id="9" name="carte-312"/>
          <p:cNvSpPr/>
          <p:nvPr/>
        </p:nvSpPr>
        <p:spPr>
          <a:xfrm>
            <a:off x="9189720" y="3566160"/>
            <a:ext cx="2453335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e-313"/>
          <p:cNvSpPr txBox="1"/>
          <p:nvPr/>
        </p:nvSpPr>
        <p:spPr>
          <a:xfrm>
            <a:off x="9418320" y="3749040"/>
            <a:ext cx="1996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start_work_age</a:t>
            </a:r>
            <a:endParaRPr lang="en-US" sz="1600" dirty="0"/>
          </a:p>
        </p:txBody>
      </p:sp>
      <p:sp>
        <p:nvSpPr>
          <p:cNvPr id="11" name="texte-314"/>
          <p:cNvSpPr txBox="1"/>
          <p:nvPr/>
        </p:nvSpPr>
        <p:spPr>
          <a:xfrm>
            <a:off x="9418320" y="4206240"/>
            <a:ext cx="19961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Une entrée tardive dans la vie active pousse vers B et C, et éloigne de 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SHAP : le profil stable oriente vers C, pas vers A</a:t>
            </a:r>
            <a:endParaRPr lang="en-US" sz="3000" dirty="0"/>
          </a:p>
        </p:txBody>
      </p:sp>
      <p:pic>
        <p:nvPicPr>
          <p:cNvPr id="3" name="graphique-shap_A-315" descr="C:\Users\feuss\AppData\Local\Temp\claude\f--personnel-RECHERCHE-CDI-JAKALA-Projet-projet-JAKALA\15f43615-3883-45dd-bbfc-225afa16c6c9\scratchpad\img\shap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114800" cy="3744032"/>
          </a:xfrm>
          <a:prstGeom prst="rect">
            <a:avLst/>
          </a:prstGeom>
        </p:spPr>
      </p:pic>
      <p:pic>
        <p:nvPicPr>
          <p:cNvPr id="4" name="graphique-shap_C-316" descr="C:\Users\feuss\AppData\Local\Temp\claude\f--personnel-RECHERCHE-CDI-JAKALA-Projet-projet-JAKALA\15f43615-3883-45dd-bbfc-225afa16c6c9\scratchpad\img\shap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4114800" cy="3816731"/>
          </a:xfrm>
          <a:prstGeom prst="rect">
            <a:avLst/>
          </a:prstGeom>
        </p:spPr>
      </p:pic>
      <p:sp>
        <p:nvSpPr>
          <p:cNvPr id="5" name="texte-317"/>
          <p:cNvSpPr txBox="1"/>
          <p:nvPr/>
        </p:nvSpPr>
        <p:spPr>
          <a:xfrm>
            <a:off x="548640" y="5806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E73"/>
                </a:solidFill>
              </a:rPr>
              <a:t>Valeurs SHAP sur le test · Segment 0 = A, Segment 2 = C · rouge = valeur élevée, bleu = valeur faible</a:t>
            </a:r>
            <a:endParaRPr lang="en-US" sz="1100" dirty="0"/>
          </a:p>
        </p:txBody>
      </p:sp>
      <p:sp>
        <p:nvSpPr>
          <p:cNvPr id="6" name="carte-318"/>
          <p:cNvSpPr/>
          <p:nvPr/>
        </p:nvSpPr>
        <p:spPr>
          <a:xfrm>
            <a:off x="9189720" y="1325880"/>
            <a:ext cx="245333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e-319"/>
          <p:cNvSpPr txBox="1"/>
          <p:nvPr/>
        </p:nvSpPr>
        <p:spPr>
          <a:xfrm>
            <a:off x="9418320" y="1435608"/>
            <a:ext cx="1996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chemeClr val="tx2"/>
                </a:solidFill>
              </a:rPr>
              <a:t>stable_profile</a:t>
            </a:r>
            <a:endParaRPr lang="en-US" sz="1550" dirty="0"/>
          </a:p>
        </p:txBody>
      </p:sp>
      <p:sp>
        <p:nvSpPr>
          <p:cNvPr id="8" name="texte-320"/>
          <p:cNvSpPr txBox="1"/>
          <p:nvPr/>
        </p:nvSpPr>
        <p:spPr>
          <a:xfrm>
            <a:off x="9418320" y="1801368"/>
            <a:ext cx="1996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Les diplômés mariés vont vers B et C ; les profils non stables vers A et D.</a:t>
            </a:r>
            <a:endParaRPr lang="en-US" sz="1300" dirty="0"/>
          </a:p>
        </p:txBody>
      </p:sp>
      <p:sp>
        <p:nvSpPr>
          <p:cNvPr id="9" name="carte-321"/>
          <p:cNvSpPr/>
          <p:nvPr/>
        </p:nvSpPr>
        <p:spPr>
          <a:xfrm>
            <a:off x="9189720" y="2880360"/>
            <a:ext cx="245333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e-322"/>
          <p:cNvSpPr txBox="1"/>
          <p:nvPr/>
        </p:nvSpPr>
        <p:spPr>
          <a:xfrm>
            <a:off x="9418320" y="2990088"/>
            <a:ext cx="1996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chemeClr val="tx2"/>
                </a:solidFill>
              </a:rPr>
              <a:t>Indicateurs binaires</a:t>
            </a:r>
            <a:endParaRPr lang="en-US" sz="1550" dirty="0"/>
          </a:p>
        </p:txBody>
      </p:sp>
      <p:sp>
        <p:nvSpPr>
          <p:cNvPr id="11" name="texte-323"/>
          <p:cNvSpPr txBox="1"/>
          <p:nvPr/>
        </p:nvSpPr>
        <p:spPr>
          <a:xfrm>
            <a:off x="9418320" y="3355848"/>
            <a:ext cx="1996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large_family, is_inexperienced et single_no_family ont un impact quasi nul.</a:t>
            </a:r>
            <a:endParaRPr lang="en-US" sz="1300" dirty="0"/>
          </a:p>
        </p:txBody>
      </p:sp>
      <p:sp>
        <p:nvSpPr>
          <p:cNvPr id="12" name="carte-324"/>
          <p:cNvSpPr/>
          <p:nvPr/>
        </p:nvSpPr>
        <p:spPr>
          <a:xfrm>
            <a:off x="9189720" y="4434840"/>
            <a:ext cx="2453335" cy="1417320"/>
          </a:xfrm>
          <a:prstGeom prst="roundRect">
            <a:avLst>
              <a:gd name="adj" fmla="val 5161"/>
            </a:avLst>
          </a:prstGeom>
          <a:solidFill>
            <a:srgbClr val="FBE3EC"/>
          </a:solidFill>
          <a:ln w="6350">
            <a:solidFill>
              <a:srgbClr val="FBE3EC"/>
            </a:solidFill>
            <a:prstDash val="solid"/>
          </a:ln>
        </p:spPr>
      </p:sp>
      <p:sp>
        <p:nvSpPr>
          <p:cNvPr id="13" name="texte-325"/>
          <p:cNvSpPr txBox="1"/>
          <p:nvPr/>
        </p:nvSpPr>
        <p:spPr>
          <a:xfrm>
            <a:off x="9418320" y="4544568"/>
            <a:ext cx="1996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chemeClr val="tx2"/>
                </a:solidFill>
              </a:rPr>
              <a:t>Limite</a:t>
            </a:r>
            <a:endParaRPr lang="en-US" sz="1550" dirty="0"/>
          </a:p>
        </p:txBody>
      </p:sp>
      <p:sp>
        <p:nvSpPr>
          <p:cNvPr id="14" name="texte-326"/>
          <p:cNvSpPr txBox="1"/>
          <p:nvPr/>
        </p:nvSpPr>
        <p:spPr>
          <a:xfrm>
            <a:off x="9418320" y="4910328"/>
            <a:ext cx="1996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Pour plusieurs variables, les mêmes valeurs contribuent de façon similaire à B et C, d'où leur confusion.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Lecture métier : le profil dominant de chaque segment</a:t>
            </a:r>
            <a:endParaRPr lang="en-US" sz="3000" dirty="0"/>
          </a:p>
        </p:txBody>
      </p:sp>
      <p:sp>
        <p:nvSpPr>
          <p:cNvPr id="3" name="carte-327"/>
          <p:cNvSpPr/>
          <p:nvPr/>
        </p:nvSpPr>
        <p:spPr>
          <a:xfrm>
            <a:off x="548640" y="132588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pastille-328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stille-texte-329"/>
          <p:cNvSpPr txBox="1"/>
          <p:nvPr/>
        </p:nvSpPr>
        <p:spPr>
          <a:xfrm>
            <a:off x="8229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A</a:t>
            </a:r>
            <a:endParaRPr lang="en-US" sz="2200" dirty="0"/>
          </a:p>
        </p:txBody>
      </p:sp>
      <p:sp>
        <p:nvSpPr>
          <p:cNvPr id="6" name="texte-330"/>
          <p:cNvSpPr txBox="1"/>
          <p:nvPr/>
        </p:nvSpPr>
        <p:spPr>
          <a:xfrm>
            <a:off x="822960" y="246888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Actifs d'âge moyen</a:t>
            </a:r>
            <a:endParaRPr lang="en-US" sz="1700" dirty="0"/>
          </a:p>
        </p:txBody>
      </p:sp>
      <p:sp>
        <p:nvSpPr>
          <p:cNvPr id="7" name="liste-331"/>
          <p:cNvSpPr txBox="1"/>
          <p:nvPr/>
        </p:nvSpPr>
        <p:spPr>
          <a:xfrm>
            <a:off x="822960" y="320040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Pic d'âge vers 40 ans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Petits foyers, plus de personnes seules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Plutôt Engineer et Entertainment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Profils peu « stables »</a:t>
            </a:r>
            <a:endParaRPr lang="en-US" sz="1350" dirty="0"/>
          </a:p>
        </p:txBody>
      </p:sp>
      <p:sp>
        <p:nvSpPr>
          <p:cNvPr id="8" name="carte-332"/>
          <p:cNvSpPr/>
          <p:nvPr/>
        </p:nvSpPr>
        <p:spPr>
          <a:xfrm>
            <a:off x="3390824" y="132588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pastille-333"/>
          <p:cNvSpPr/>
          <p:nvPr/>
        </p:nvSpPr>
        <p:spPr>
          <a:xfrm>
            <a:off x="3665144" y="1554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pastille-texte-334"/>
          <p:cNvSpPr txBox="1"/>
          <p:nvPr/>
        </p:nvSpPr>
        <p:spPr>
          <a:xfrm>
            <a:off x="3665144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B</a:t>
            </a:r>
            <a:endParaRPr lang="en-US" sz="2200" dirty="0"/>
          </a:p>
        </p:txBody>
      </p:sp>
      <p:sp>
        <p:nvSpPr>
          <p:cNvPr id="11" name="texte-335"/>
          <p:cNvSpPr txBox="1"/>
          <p:nvPr/>
        </p:nvSpPr>
        <p:spPr>
          <a:xfrm>
            <a:off x="3665144" y="246888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Installés, âgés</a:t>
            </a:r>
            <a:endParaRPr lang="en-US" sz="1700" dirty="0"/>
          </a:p>
        </p:txBody>
      </p:sp>
      <p:sp>
        <p:nvSpPr>
          <p:cNvPr id="12" name="liste-336"/>
          <p:cNvSpPr txBox="1"/>
          <p:nvPr/>
        </p:nvSpPr>
        <p:spPr>
          <a:xfrm>
            <a:off x="3665144" y="320040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Médiane d'âge ≈ 46 ans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Mariés et diplômés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Entrée tardive dans la vie active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Profil proche de C : le plus dur à cibler</a:t>
            </a:r>
            <a:endParaRPr lang="en-US" sz="1350" dirty="0"/>
          </a:p>
        </p:txBody>
      </p:sp>
      <p:sp>
        <p:nvSpPr>
          <p:cNvPr id="13" name="carte-337"/>
          <p:cNvSpPr/>
          <p:nvPr/>
        </p:nvSpPr>
        <p:spPr>
          <a:xfrm>
            <a:off x="6233008" y="132588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pastille-338"/>
          <p:cNvSpPr/>
          <p:nvPr/>
        </p:nvSpPr>
        <p:spPr>
          <a:xfrm>
            <a:off x="6507328" y="15544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pastille-texte-339"/>
          <p:cNvSpPr txBox="1"/>
          <p:nvPr/>
        </p:nvSpPr>
        <p:spPr>
          <a:xfrm>
            <a:off x="650732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C</a:t>
            </a:r>
            <a:endParaRPr lang="en-US" sz="2200" dirty="0"/>
          </a:p>
        </p:txBody>
      </p:sp>
      <p:sp>
        <p:nvSpPr>
          <p:cNvPr id="16" name="texte-340"/>
          <p:cNvSpPr txBox="1"/>
          <p:nvPr/>
        </p:nvSpPr>
        <p:spPr>
          <a:xfrm>
            <a:off x="6507328" y="246888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Installés, les plus âgés</a:t>
            </a:r>
            <a:endParaRPr lang="en-US" sz="1700" dirty="0"/>
          </a:p>
        </p:txBody>
      </p:sp>
      <p:sp>
        <p:nvSpPr>
          <p:cNvPr id="17" name="liste-341"/>
          <p:cNvSpPr txBox="1"/>
          <p:nvPr/>
        </p:nvSpPr>
        <p:spPr>
          <a:xfrm>
            <a:off x="6507328" y="320040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Médiane d'âge ≈ 49 ans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Mariés et diplômés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Artist ≈ 42 % du segment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Score de dépenses « Average »</a:t>
            </a:r>
            <a:endParaRPr lang="en-US" sz="1350" dirty="0"/>
          </a:p>
        </p:txBody>
      </p:sp>
      <p:sp>
        <p:nvSpPr>
          <p:cNvPr id="18" name="carte-342"/>
          <p:cNvSpPr/>
          <p:nvPr/>
        </p:nvSpPr>
        <p:spPr>
          <a:xfrm>
            <a:off x="9075191" y="132588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pastille-343"/>
          <p:cNvSpPr/>
          <p:nvPr/>
        </p:nvSpPr>
        <p:spPr>
          <a:xfrm>
            <a:off x="9349511" y="15544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astille-texte-344"/>
          <p:cNvSpPr txBox="1"/>
          <p:nvPr/>
        </p:nvSpPr>
        <p:spPr>
          <a:xfrm>
            <a:off x="9349511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D</a:t>
            </a:r>
            <a:endParaRPr lang="en-US" sz="2200" dirty="0"/>
          </a:p>
        </p:txBody>
      </p:sp>
      <p:sp>
        <p:nvSpPr>
          <p:cNvPr id="21" name="texte-345"/>
          <p:cNvSpPr txBox="1"/>
          <p:nvPr/>
        </p:nvSpPr>
        <p:spPr>
          <a:xfrm>
            <a:off x="9349511" y="246888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Jeunes et indépendants</a:t>
            </a:r>
            <a:endParaRPr lang="en-US" sz="1700" dirty="0"/>
          </a:p>
        </p:txBody>
      </p:sp>
      <p:sp>
        <p:nvSpPr>
          <p:cNvPr id="22" name="liste-346"/>
          <p:cNvSpPr txBox="1"/>
          <p:nvPr/>
        </p:nvSpPr>
        <p:spPr>
          <a:xfrm>
            <a:off x="9349511" y="320040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Médiane d'âge ≈ 29 ans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Non mariés, non diplômés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Healthcare ≈ 72 % en D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Score de dépenses « Low »</a:t>
            </a:r>
            <a:endParaRPr lang="en-US" sz="1350" dirty="0"/>
          </a:p>
        </p:txBody>
      </p:sp>
      <p:sp>
        <p:nvSpPr>
          <p:cNvPr id="23" name="texte-347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E73"/>
                </a:solidFill>
              </a:rPr>
              <a:t>Synthèse des tendances observées dans l'analyse bivariée et les valeurs SHAP : ce sont des profils dominants, pas des règles d'affectation.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5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 et perspectives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4023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Ce qu'il faut retenir et comment aller plus loin</a:t>
            </a:r>
            <a:endParaRPr lang="en-US" sz="1800" dirty="0"/>
          </a:p>
        </p:txBody>
      </p:sp>
      <p:sp>
        <p:nvSpPr>
          <p:cNvPr id="5" name="pastille-348"/>
          <p:cNvSpPr/>
          <p:nvPr/>
        </p:nvSpPr>
        <p:spPr>
          <a:xfrm>
            <a:off x="8595360" y="2240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tille-texte-349"/>
          <p:cNvSpPr txBox="1"/>
          <p:nvPr/>
        </p:nvSpPr>
        <p:spPr>
          <a:xfrm>
            <a:off x="859536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pastille-350"/>
          <p:cNvSpPr/>
          <p:nvPr/>
        </p:nvSpPr>
        <p:spPr>
          <a:xfrm>
            <a:off x="9372600" y="22402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astille-texte-351"/>
          <p:cNvSpPr txBox="1"/>
          <p:nvPr/>
        </p:nvSpPr>
        <p:spPr>
          <a:xfrm>
            <a:off x="937260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9" name="pastille-352"/>
          <p:cNvSpPr/>
          <p:nvPr/>
        </p:nvSpPr>
        <p:spPr>
          <a:xfrm>
            <a:off x="10149840" y="22402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astille-texte-353"/>
          <p:cNvSpPr txBox="1"/>
          <p:nvPr/>
        </p:nvSpPr>
        <p:spPr>
          <a:xfrm>
            <a:off x="1014984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1" name="pastille-354"/>
          <p:cNvSpPr/>
          <p:nvPr/>
        </p:nvSpPr>
        <p:spPr>
          <a:xfrm>
            <a:off x="10927080" y="22402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tille-texte-355"/>
          <p:cNvSpPr txBox="1"/>
          <p:nvPr/>
        </p:nvSpPr>
        <p:spPr>
          <a:xfrm>
            <a:off x="1092708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carte-356"/>
          <p:cNvSpPr/>
          <p:nvPr/>
        </p:nvSpPr>
        <p:spPr>
          <a:xfrm>
            <a:off x="548640" y="1325880"/>
            <a:ext cx="11094415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pastille-357"/>
          <p:cNvSpPr/>
          <p:nvPr/>
        </p:nvSpPr>
        <p:spPr>
          <a:xfrm>
            <a:off x="731520" y="1481328"/>
            <a:ext cx="512064" cy="5120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pastille-texte-358"/>
          <p:cNvSpPr txBox="1"/>
          <p:nvPr/>
        </p:nvSpPr>
        <p:spPr>
          <a:xfrm>
            <a:off x="73152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e-359"/>
          <p:cNvSpPr txBox="1"/>
          <p:nvPr/>
        </p:nvSpPr>
        <p:spPr>
          <a:xfrm>
            <a:off x="1463040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Données</a:t>
            </a:r>
            <a:endParaRPr lang="en-US" sz="1700" dirty="0"/>
          </a:p>
        </p:txBody>
      </p:sp>
      <p:sp>
        <p:nvSpPr>
          <p:cNvPr id="7" name="texte-360"/>
          <p:cNvSpPr txBox="1"/>
          <p:nvPr/>
        </p:nvSpPr>
        <p:spPr>
          <a:xfrm>
            <a:off x="3749040" y="1417320"/>
            <a:ext cx="7619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8 068 clients, 4 segments équilibrés, valeurs manquantes traitées par imputation (médiane, médiane ou mode par segment).</a:t>
            </a:r>
            <a:endParaRPr lang="en-US" sz="1500" dirty="0"/>
          </a:p>
        </p:txBody>
      </p:sp>
      <p:sp>
        <p:nvSpPr>
          <p:cNvPr id="8" name="carte-361"/>
          <p:cNvSpPr/>
          <p:nvPr/>
        </p:nvSpPr>
        <p:spPr>
          <a:xfrm>
            <a:off x="548640" y="2286000"/>
            <a:ext cx="11094415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pastille-362"/>
          <p:cNvSpPr/>
          <p:nvPr/>
        </p:nvSpPr>
        <p:spPr>
          <a:xfrm>
            <a:off x="731520" y="2441448"/>
            <a:ext cx="512064" cy="5120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tille-texte-363"/>
          <p:cNvSpPr txBox="1"/>
          <p:nvPr/>
        </p:nvSpPr>
        <p:spPr>
          <a:xfrm>
            <a:off x="731520" y="2441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e-364"/>
          <p:cNvSpPr txBox="1"/>
          <p:nvPr/>
        </p:nvSpPr>
        <p:spPr>
          <a:xfrm>
            <a:off x="146304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Variables clés</a:t>
            </a:r>
            <a:endParaRPr lang="en-US" sz="1700" dirty="0"/>
          </a:p>
        </p:txBody>
      </p:sp>
      <p:sp>
        <p:nvSpPr>
          <p:cNvPr id="12" name="texte-365"/>
          <p:cNvSpPr txBox="1"/>
          <p:nvPr/>
        </p:nvSpPr>
        <p:spPr>
          <a:xfrm>
            <a:off x="3749040" y="2377440"/>
            <a:ext cx="7619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Âge, statut marital, diplôme, profession et score de dépenses. Le genre n'a pas d'effet significatif.</a:t>
            </a:r>
            <a:endParaRPr lang="en-US" sz="1500" dirty="0"/>
          </a:p>
        </p:txBody>
      </p:sp>
      <p:sp>
        <p:nvSpPr>
          <p:cNvPr id="13" name="carte-366"/>
          <p:cNvSpPr/>
          <p:nvPr/>
        </p:nvSpPr>
        <p:spPr>
          <a:xfrm>
            <a:off x="548640" y="3246120"/>
            <a:ext cx="11094415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pastille-367"/>
          <p:cNvSpPr/>
          <p:nvPr/>
        </p:nvSpPr>
        <p:spPr>
          <a:xfrm>
            <a:off x="731520" y="3401568"/>
            <a:ext cx="512064" cy="5120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tille-texte-368"/>
          <p:cNvSpPr txBox="1"/>
          <p:nvPr/>
        </p:nvSpPr>
        <p:spPr>
          <a:xfrm>
            <a:off x="731520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e-369"/>
          <p:cNvSpPr txBox="1"/>
          <p:nvPr/>
        </p:nvSpPr>
        <p:spPr>
          <a:xfrm>
            <a:off x="146304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Modèle retenu</a:t>
            </a:r>
            <a:endParaRPr lang="en-US" sz="1700" dirty="0"/>
          </a:p>
        </p:txBody>
      </p:sp>
      <p:sp>
        <p:nvSpPr>
          <p:cNvPr id="17" name="texte-370"/>
          <p:cNvSpPr txBox="1"/>
          <p:nvPr/>
        </p:nvSpPr>
        <p:spPr>
          <a:xfrm>
            <a:off x="3749040" y="3337560"/>
            <a:ext cx="7619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XGBoost, enrichi par du feature engineering et optimisé avec Optuna.</a:t>
            </a:r>
            <a:endParaRPr lang="en-US" sz="1500" dirty="0"/>
          </a:p>
        </p:txBody>
      </p:sp>
      <p:sp>
        <p:nvSpPr>
          <p:cNvPr id="18" name="carte-371"/>
          <p:cNvSpPr/>
          <p:nvPr/>
        </p:nvSpPr>
        <p:spPr>
          <a:xfrm>
            <a:off x="548640" y="4206240"/>
            <a:ext cx="11094415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pastille-372"/>
          <p:cNvSpPr/>
          <p:nvPr/>
        </p:nvSpPr>
        <p:spPr>
          <a:xfrm>
            <a:off x="731520" y="4361688"/>
            <a:ext cx="512064" cy="5120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pastille-texte-373"/>
          <p:cNvSpPr txBox="1"/>
          <p:nvPr/>
        </p:nvSpPr>
        <p:spPr>
          <a:xfrm>
            <a:off x="731520" y="4361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e-374"/>
          <p:cNvSpPr txBox="1"/>
          <p:nvPr/>
        </p:nvSpPr>
        <p:spPr>
          <a:xfrm>
            <a:off x="1463040" y="4297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Performance</a:t>
            </a:r>
            <a:endParaRPr lang="en-US" sz="1700" dirty="0"/>
          </a:p>
        </p:txBody>
      </p:sp>
      <p:sp>
        <p:nvSpPr>
          <p:cNvPr id="22" name="texte-375"/>
          <p:cNvSpPr txBox="1"/>
          <p:nvPr/>
        </p:nvSpPr>
        <p:spPr>
          <a:xfrm>
            <a:off x="3749040" y="4297680"/>
            <a:ext cx="7619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F1-macro ≈ 0,53 sur le test (hasard : 0,25), écart train / validation maîtrisé (≈ 0,03).</a:t>
            </a:r>
            <a:endParaRPr lang="en-US" sz="1500" dirty="0"/>
          </a:p>
        </p:txBody>
      </p:sp>
      <p:sp>
        <p:nvSpPr>
          <p:cNvPr id="23" name="carte-376"/>
          <p:cNvSpPr/>
          <p:nvPr/>
        </p:nvSpPr>
        <p:spPr>
          <a:xfrm>
            <a:off x="548640" y="516636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BE3EC"/>
          </a:solidFill>
          <a:ln w="6350">
            <a:solidFill>
              <a:srgbClr val="FBE3EC"/>
            </a:solidFill>
            <a:prstDash val="solid"/>
          </a:ln>
        </p:spPr>
      </p:sp>
      <p:sp>
        <p:nvSpPr>
          <p:cNvPr id="24" name="pastille-377"/>
          <p:cNvSpPr/>
          <p:nvPr/>
        </p:nvSpPr>
        <p:spPr>
          <a:xfrm>
            <a:off x="731520" y="5321808"/>
            <a:ext cx="512064" cy="51206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astille-texte-378"/>
          <p:cNvSpPr txBox="1"/>
          <p:nvPr/>
        </p:nvSpPr>
        <p:spPr>
          <a:xfrm>
            <a:off x="731520" y="5321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e-379"/>
          <p:cNvSpPr txBox="1"/>
          <p:nvPr/>
        </p:nvSpPr>
        <p:spPr>
          <a:xfrm>
            <a:off x="1463040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Limite</a:t>
            </a:r>
            <a:endParaRPr lang="en-US" sz="1700" dirty="0"/>
          </a:p>
        </p:txBody>
      </p:sp>
      <p:sp>
        <p:nvSpPr>
          <p:cNvPr id="27" name="texte-380"/>
          <p:cNvSpPr txBox="1"/>
          <p:nvPr/>
        </p:nvSpPr>
        <p:spPr>
          <a:xfrm>
            <a:off x="3749040" y="5257800"/>
            <a:ext cx="7619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 est bien identifié, mais A et B restent difficiles à distinguer : les variables disponibles ne suffisent pas à les séparer nettement.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Perspectives d'amélioration</a:t>
            </a:r>
            <a:endParaRPr lang="en-US" sz="3000" dirty="0"/>
          </a:p>
        </p:txBody>
      </p:sp>
      <p:sp>
        <p:nvSpPr>
          <p:cNvPr id="3" name="carte-381"/>
          <p:cNvSpPr/>
          <p:nvPr/>
        </p:nvSpPr>
        <p:spPr>
          <a:xfrm>
            <a:off x="548640" y="1325880"/>
            <a:ext cx="603504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e-382"/>
          <p:cNvSpPr txBox="1"/>
          <p:nvPr/>
        </p:nvSpPr>
        <p:spPr>
          <a:xfrm>
            <a:off x="822960" y="1508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Tester une approche en deux étapes</a:t>
            </a:r>
            <a:endParaRPr lang="en-US" sz="1800" dirty="0"/>
          </a:p>
        </p:txBody>
      </p:sp>
      <p:sp>
        <p:nvSpPr>
          <p:cNvPr id="5" name="etape-383"/>
          <p:cNvSpPr/>
          <p:nvPr/>
        </p:nvSpPr>
        <p:spPr>
          <a:xfrm>
            <a:off x="2423160" y="2148840"/>
            <a:ext cx="228600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e-384"/>
          <p:cNvSpPr txBox="1"/>
          <p:nvPr/>
        </p:nvSpPr>
        <p:spPr>
          <a:xfrm>
            <a:off x="251460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Tous les clients</a:t>
            </a:r>
            <a:endParaRPr lang="en-US" sz="1400" dirty="0"/>
          </a:p>
        </p:txBody>
      </p:sp>
      <p:sp>
        <p:nvSpPr>
          <p:cNvPr id="7" name="fleche-385"/>
          <p:cNvSpPr/>
          <p:nvPr/>
        </p:nvSpPr>
        <p:spPr>
          <a:xfrm>
            <a:off x="3566160" y="2788920"/>
            <a:ext cx="0" cy="320040"/>
          </a:xfrm>
          <a:prstGeom prst="line">
            <a:avLst/>
          </a:prstGeom>
          <a:noFill/>
          <a:ln w="19050">
            <a:solidFill>
              <a:srgbClr val="8A9A9E"/>
            </a:solidFill>
            <a:prstDash val="solid"/>
            <a:tailEnd type="triangle"/>
          </a:ln>
        </p:spPr>
      </p:sp>
      <p:sp>
        <p:nvSpPr>
          <p:cNvPr id="8" name="etape-386"/>
          <p:cNvSpPr/>
          <p:nvPr/>
        </p:nvSpPr>
        <p:spPr>
          <a:xfrm>
            <a:off x="1737360" y="310896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e-387"/>
          <p:cNvSpPr txBox="1"/>
          <p:nvPr/>
        </p:nvSpPr>
        <p:spPr>
          <a:xfrm>
            <a:off x="1828800" y="3108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Modèle 1 : D contre le reste (binaire)</a:t>
            </a:r>
            <a:endParaRPr lang="en-US" sz="1400" dirty="0"/>
          </a:p>
        </p:txBody>
      </p:sp>
      <p:sp>
        <p:nvSpPr>
          <p:cNvPr id="10" name="fleche-388"/>
          <p:cNvSpPr/>
          <p:nvPr/>
        </p:nvSpPr>
        <p:spPr>
          <a:xfrm flipH="1">
            <a:off x="1920240" y="3840480"/>
            <a:ext cx="822960" cy="411480"/>
          </a:xfrm>
          <a:prstGeom prst="line">
            <a:avLst/>
          </a:prstGeom>
          <a:noFill/>
          <a:ln w="19050">
            <a:solidFill>
              <a:srgbClr val="8A9A9E"/>
            </a:solidFill>
            <a:prstDash val="solid"/>
            <a:tailEnd type="triangle"/>
          </a:ln>
        </p:spPr>
      </p:sp>
      <p:sp>
        <p:nvSpPr>
          <p:cNvPr id="11" name="fleche-389"/>
          <p:cNvSpPr/>
          <p:nvPr/>
        </p:nvSpPr>
        <p:spPr>
          <a:xfrm>
            <a:off x="4389120" y="3840480"/>
            <a:ext cx="822960" cy="411480"/>
          </a:xfrm>
          <a:prstGeom prst="line">
            <a:avLst/>
          </a:prstGeom>
          <a:noFill/>
          <a:ln w="19050">
            <a:solidFill>
              <a:srgbClr val="8A9A9E"/>
            </a:solidFill>
            <a:prstDash val="solid"/>
            <a:tailEnd type="triangle"/>
          </a:ln>
        </p:spPr>
      </p:sp>
      <p:sp>
        <p:nvSpPr>
          <p:cNvPr id="12" name="etape-390"/>
          <p:cNvSpPr/>
          <p:nvPr/>
        </p:nvSpPr>
        <p:spPr>
          <a:xfrm>
            <a:off x="914400" y="425196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e-391"/>
          <p:cNvSpPr txBox="1"/>
          <p:nvPr/>
        </p:nvSpPr>
        <p:spPr>
          <a:xfrm>
            <a:off x="1005840" y="4251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Segment D</a:t>
            </a:r>
            <a:endParaRPr lang="en-US" sz="1400" dirty="0"/>
          </a:p>
        </p:txBody>
      </p:sp>
      <p:sp>
        <p:nvSpPr>
          <p:cNvPr id="14" name="etape-392"/>
          <p:cNvSpPr/>
          <p:nvPr/>
        </p:nvSpPr>
        <p:spPr>
          <a:xfrm>
            <a:off x="3840480" y="4251960"/>
            <a:ext cx="246888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e-393"/>
          <p:cNvSpPr txBox="1"/>
          <p:nvPr/>
        </p:nvSpPr>
        <p:spPr>
          <a:xfrm>
            <a:off x="3931920" y="4251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Modèle 2 : A, B ou C</a:t>
            </a:r>
            <a:endParaRPr lang="en-US" sz="1400" dirty="0"/>
          </a:p>
        </p:txBody>
      </p:sp>
      <p:sp>
        <p:nvSpPr>
          <p:cNvPr id="16" name="texte-394"/>
          <p:cNvSpPr txBox="1"/>
          <p:nvPr/>
        </p:nvSpPr>
        <p:spPr>
          <a:xfrm>
            <a:off x="822960" y="5166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Le modèle 1 exploite la bonne séparabilité de D ; le modèle 2 se spécialise sur les profils proches A, B et C.</a:t>
            </a:r>
            <a:endParaRPr lang="en-US" sz="1350" dirty="0"/>
          </a:p>
        </p:txBody>
      </p:sp>
      <p:sp>
        <p:nvSpPr>
          <p:cNvPr id="17" name="pastille-395"/>
          <p:cNvSpPr/>
          <p:nvPr/>
        </p:nvSpPr>
        <p:spPr>
          <a:xfrm>
            <a:off x="6903720" y="13716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astille-texte-396"/>
          <p:cNvSpPr txBox="1"/>
          <p:nvPr/>
        </p:nvSpPr>
        <p:spPr>
          <a:xfrm>
            <a:off x="6903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e-397"/>
          <p:cNvSpPr txBox="1"/>
          <p:nvPr/>
        </p:nvSpPr>
        <p:spPr>
          <a:xfrm>
            <a:off x="7543800" y="1325880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chemeClr val="tx2"/>
                </a:solidFill>
              </a:rPr>
              <a:t>Mieux séparer B de A et C</a:t>
            </a:r>
            <a:endParaRPr lang="en-US" sz="1550" dirty="0"/>
          </a:p>
        </p:txBody>
      </p:sp>
      <p:sp>
        <p:nvSpPr>
          <p:cNvPr id="20" name="texte-398"/>
          <p:cNvSpPr txBox="1"/>
          <p:nvPr/>
        </p:nvSpPr>
        <p:spPr>
          <a:xfrm>
            <a:off x="7543800" y="1709928"/>
            <a:ext cx="4099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Nouvelles variables ou interactions ciblées : aujourd'hui, les mêmes valeurs ont des contributions SHAP similaires pour B et C.</a:t>
            </a:r>
            <a:endParaRPr lang="en-US" sz="1300" dirty="0"/>
          </a:p>
        </p:txBody>
      </p:sp>
      <p:sp>
        <p:nvSpPr>
          <p:cNvPr id="21" name="pastille-399"/>
          <p:cNvSpPr/>
          <p:nvPr/>
        </p:nvSpPr>
        <p:spPr>
          <a:xfrm>
            <a:off x="6903720" y="258775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pastille-texte-400"/>
          <p:cNvSpPr txBox="1"/>
          <p:nvPr/>
        </p:nvSpPr>
        <p:spPr>
          <a:xfrm>
            <a:off x="690372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e-401"/>
          <p:cNvSpPr txBox="1"/>
          <p:nvPr/>
        </p:nvSpPr>
        <p:spPr>
          <a:xfrm>
            <a:off x="7543800" y="2542032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chemeClr val="tx2"/>
                </a:solidFill>
              </a:rPr>
              <a:t>Enrichir les données</a:t>
            </a:r>
            <a:endParaRPr lang="en-US" sz="1550" dirty="0"/>
          </a:p>
        </p:txBody>
      </p:sp>
      <p:sp>
        <p:nvSpPr>
          <p:cNvPr id="24" name="texte-402"/>
          <p:cNvSpPr txBox="1"/>
          <p:nvPr/>
        </p:nvSpPr>
        <p:spPr>
          <a:xfrm>
            <a:off x="7543800" y="2926080"/>
            <a:ext cx="4099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Données comportementales (achats, canaux, fréquence) si elles sont disponibles.</a:t>
            </a:r>
            <a:endParaRPr lang="en-US" sz="1300" dirty="0"/>
          </a:p>
        </p:txBody>
      </p:sp>
      <p:sp>
        <p:nvSpPr>
          <p:cNvPr id="25" name="pastille-403"/>
          <p:cNvSpPr/>
          <p:nvPr/>
        </p:nvSpPr>
        <p:spPr>
          <a:xfrm>
            <a:off x="6903720" y="3803904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pastille-texte-404"/>
          <p:cNvSpPr txBox="1"/>
          <p:nvPr/>
        </p:nvSpPr>
        <p:spPr>
          <a:xfrm>
            <a:off x="690372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e-405"/>
          <p:cNvSpPr txBox="1"/>
          <p:nvPr/>
        </p:nvSpPr>
        <p:spPr>
          <a:xfrm>
            <a:off x="7543800" y="3758184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chemeClr val="tx2"/>
                </a:solidFill>
              </a:rPr>
              <a:t>Fiabiliser pour la production</a:t>
            </a:r>
            <a:endParaRPr lang="en-US" sz="1550" dirty="0"/>
          </a:p>
        </p:txBody>
      </p:sp>
      <p:sp>
        <p:nvSpPr>
          <p:cNvPr id="28" name="texte-406"/>
          <p:cNvSpPr txBox="1"/>
          <p:nvPr/>
        </p:nvSpPr>
        <p:spPr>
          <a:xfrm>
            <a:off x="7543800" y="4142232"/>
            <a:ext cx="4099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Remplacer l'imputation par segment, qui suppose la cible connue, par une imputation intégrée au pipeline.</a:t>
            </a:r>
            <a:endParaRPr lang="en-US" sz="1300" dirty="0"/>
          </a:p>
        </p:txBody>
      </p:sp>
      <p:sp>
        <p:nvSpPr>
          <p:cNvPr id="29" name="pastille-407"/>
          <p:cNvSpPr/>
          <p:nvPr/>
        </p:nvSpPr>
        <p:spPr>
          <a:xfrm>
            <a:off x="6903720" y="502005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pastille-texte-408"/>
          <p:cNvSpPr txBox="1"/>
          <p:nvPr/>
        </p:nvSpPr>
        <p:spPr>
          <a:xfrm>
            <a:off x="690372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e-409"/>
          <p:cNvSpPr txBox="1"/>
          <p:nvPr/>
        </p:nvSpPr>
        <p:spPr>
          <a:xfrm>
            <a:off x="7543800" y="4974336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chemeClr val="tx2"/>
                </a:solidFill>
              </a:rPr>
              <a:t>Élargir le benchmark</a:t>
            </a:r>
            <a:endParaRPr lang="en-US" sz="1550" dirty="0"/>
          </a:p>
        </p:txBody>
      </p:sp>
      <p:sp>
        <p:nvSpPr>
          <p:cNvPr id="32" name="texte-410"/>
          <p:cNvSpPr txBox="1"/>
          <p:nvPr/>
        </p:nvSpPr>
        <p:spPr>
          <a:xfrm>
            <a:off x="7543800" y="5358384"/>
            <a:ext cx="4099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CatBoost, ensembles de modèles, ajustement des seuils de décision par segment.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Merci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931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 et échanges</a:t>
            </a:r>
            <a:endParaRPr lang="en-US" sz="2000" dirty="0"/>
          </a:p>
        </p:txBody>
      </p:sp>
      <p:sp>
        <p:nvSpPr>
          <p:cNvPr id="4" name="pastille-411"/>
          <p:cNvSpPr/>
          <p:nvPr/>
        </p:nvSpPr>
        <p:spPr>
          <a:xfrm>
            <a:off x="9692640" y="21945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stille-texte-412"/>
          <p:cNvSpPr txBox="1"/>
          <p:nvPr/>
        </p:nvSpPr>
        <p:spPr>
          <a:xfrm>
            <a:off x="969264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A</a:t>
            </a:r>
            <a:endParaRPr lang="en-US" sz="2600" dirty="0"/>
          </a:p>
        </p:txBody>
      </p:sp>
      <p:sp>
        <p:nvSpPr>
          <p:cNvPr id="6" name="pastille-413"/>
          <p:cNvSpPr/>
          <p:nvPr/>
        </p:nvSpPr>
        <p:spPr>
          <a:xfrm>
            <a:off x="10835640" y="219456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pastille-texte-414"/>
          <p:cNvSpPr txBox="1"/>
          <p:nvPr/>
        </p:nvSpPr>
        <p:spPr>
          <a:xfrm>
            <a:off x="1083564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B</a:t>
            </a:r>
            <a:endParaRPr lang="en-US" sz="2600" dirty="0"/>
          </a:p>
        </p:txBody>
      </p:sp>
      <p:sp>
        <p:nvSpPr>
          <p:cNvPr id="8" name="pastille-415"/>
          <p:cNvSpPr/>
          <p:nvPr/>
        </p:nvSpPr>
        <p:spPr>
          <a:xfrm>
            <a:off x="9692640" y="333756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tille-texte-416"/>
          <p:cNvSpPr txBox="1"/>
          <p:nvPr/>
        </p:nvSpPr>
        <p:spPr>
          <a:xfrm>
            <a:off x="9692640" y="3337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C</a:t>
            </a:r>
            <a:endParaRPr lang="en-US" sz="2600" dirty="0"/>
          </a:p>
        </p:txBody>
      </p:sp>
      <p:sp>
        <p:nvSpPr>
          <p:cNvPr id="10" name="pastille-417"/>
          <p:cNvSpPr/>
          <p:nvPr/>
        </p:nvSpPr>
        <p:spPr>
          <a:xfrm>
            <a:off x="10835640" y="333756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pastille-texte-418"/>
          <p:cNvSpPr txBox="1"/>
          <p:nvPr/>
        </p:nvSpPr>
        <p:spPr>
          <a:xfrm>
            <a:off x="10835640" y="3337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D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gmentation Client">
  <a:themeElements>
    <a:clrScheme name="Segmentation Client">
      <a:dk1>
        <a:srgbClr val="1B2428"/>
      </a:dk1>
      <a:lt1>
        <a:srgbClr val="FFFFFF"/>
      </a:lt1>
      <a:dk2>
        <a:srgbClr val="12343B"/>
      </a:dk2>
      <a:lt2>
        <a:srgbClr val="EDF3F3"/>
      </a:lt2>
      <a:accent1>
        <a:srgbClr val="2196F3"/>
      </a:accent1>
      <a:accent2>
        <a:srgbClr val="FF9800"/>
      </a:accent2>
      <a:accent3>
        <a:srgbClr val="4CAF50"/>
      </a:accent3>
      <a:accent4>
        <a:srgbClr val="E91E63"/>
      </a:accent4>
      <a:accent5>
        <a:srgbClr val="2A9D8F"/>
      </a:accent5>
      <a:accent6>
        <a:srgbClr val="E9C46A"/>
      </a:accent6>
      <a:hlink>
        <a:srgbClr val="2196F3"/>
      </a:hlink>
      <a:folHlink>
        <a:srgbClr val="6D2E46"/>
      </a:folHlink>
    </a:clrScheme>
    <a:fontScheme name="Segmentation Clie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4159</Words>
  <Application>Microsoft Office PowerPoint</Application>
  <PresentationFormat>Grand écran</PresentationFormat>
  <Paragraphs>510</Paragraphs>
  <Slides>32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5" baseType="lpstr">
      <vt:lpstr>Arial</vt:lpstr>
      <vt:lpstr>Calibri</vt:lpstr>
      <vt:lpstr>Segmentation Client</vt:lpstr>
      <vt:lpstr>Segmentation client : prédire le segment A, B, C ou D</vt:lpstr>
      <vt:lpstr>L'essentiel en une slide</vt:lpstr>
      <vt:lpstr>Comprendre le problème : une classification multiclasse</vt:lpstr>
      <vt:lpstr>Les données : 8 068 clients décrits par 9 variables</vt:lpstr>
      <vt:lpstr>Une démarche en six étapes</vt:lpstr>
      <vt:lpstr>Analyse exploratoire</vt:lpstr>
      <vt:lpstr>La cible est équilibrée : aucun rééquilibrage nécessaire</vt:lpstr>
      <vt:lpstr>Variables numériques : âge complet, expérience très asymétrique</vt:lpstr>
      <vt:lpstr>Variables catégorielles : des modalités dominantes</vt:lpstr>
      <vt:lpstr>Regroupement des modalités rares : Profession et Var_1</vt:lpstr>
      <vt:lpstr>L'âge est de loin la variable numérique la plus discriminante</vt:lpstr>
      <vt:lpstr>Chaque segment a son « âge typique »</vt:lpstr>
      <vt:lpstr>Statut marital, diplôme et profession séparent les segments</vt:lpstr>
      <vt:lpstr>Chi² : quatre variables fortement liées, le genre ne l'est pas</vt:lpstr>
      <vt:lpstr>Peu de redondance entre variables, sauf autour du statut marital</vt:lpstr>
      <vt:lpstr>Préparation et modélisation</vt:lpstr>
      <vt:lpstr>Preprocessing : des choix guidés par l'analyse exploratoire</vt:lpstr>
      <vt:lpstr>Une préparation adaptée à chaque famille de modèles</vt:lpstr>
      <vt:lpstr>Benchmark : XGBoost obtient le meilleur score de validation</vt:lpstr>
      <vt:lpstr>Feature engineering : neuf variables métier ajoutées</vt:lpstr>
      <vt:lpstr>Optuna et early stopping : un modèle mieux régularisé</vt:lpstr>
      <vt:lpstr>Résultats</vt:lpstr>
      <vt:lpstr>Sur le test, F1-macro de 0,53 : le modèle généralise bien</vt:lpstr>
      <vt:lpstr>Le segment B est confondu avec A et C</vt:lpstr>
      <vt:lpstr>stable_profile, une variable créée, arrive en tête des importances</vt:lpstr>
      <vt:lpstr>SHAP : l'âge oppose les segments B et D</vt:lpstr>
      <vt:lpstr>SHAP : le profil stable oriente vers C, pas vers A</vt:lpstr>
      <vt:lpstr>Lecture métier : le profil dominant de chaque segment</vt:lpstr>
      <vt:lpstr>Conclusion et perspectives</vt:lpstr>
      <vt:lpstr>Conclusion</vt:lpstr>
      <vt:lpstr>Perspectives d'amélioration</vt:lpstr>
      <vt:lpstr>Merci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Segmentation client — Projet JAKALA</dc:title>
  <dc:subject>Classification multiclasse supervisée des segments clients</dc:subject>
  <dc:creator>PptxGenJS</dc:creator>
  <cp:lastModifiedBy>franck jorel fogue feussi</cp:lastModifiedBy>
  <cp:revision>1</cp:revision>
  <dcterms:created xsi:type="dcterms:W3CDTF">2026-10-13T02:14:14Z</dcterms:created>
  <dcterms:modified xsi:type="dcterms:W3CDTF">2026-10-13T02:19:03Z</dcterms:modified>
</cp:coreProperties>
</file>